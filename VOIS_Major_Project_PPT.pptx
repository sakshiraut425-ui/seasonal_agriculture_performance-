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2"/>
  </p:notesMasterIdLst>
  <p:handoutMasterIdLst>
    <p:handoutMasterId r:id="rId33"/>
  </p:handoutMasterIdLst>
  <p:sldIdLst>
    <p:sldId id="338" r:id="rId5"/>
    <p:sldId id="327" r:id="rId6"/>
    <p:sldId id="315" r:id="rId7"/>
    <p:sldId id="329" r:id="rId8"/>
    <p:sldId id="302" r:id="rId9"/>
    <p:sldId id="339" r:id="rId10"/>
    <p:sldId id="347" r:id="rId11"/>
    <p:sldId id="340" r:id="rId12"/>
    <p:sldId id="348" r:id="rId13"/>
    <p:sldId id="344" r:id="rId14"/>
    <p:sldId id="345" r:id="rId15"/>
    <p:sldId id="349" r:id="rId16"/>
    <p:sldId id="346" r:id="rId17"/>
    <p:sldId id="350" r:id="rId18"/>
    <p:sldId id="351" r:id="rId19"/>
    <p:sldId id="352" r:id="rId20"/>
    <p:sldId id="354" r:id="rId21"/>
    <p:sldId id="353" r:id="rId22"/>
    <p:sldId id="355" r:id="rId23"/>
    <p:sldId id="356" r:id="rId24"/>
    <p:sldId id="357" r:id="rId25"/>
    <p:sldId id="359" r:id="rId26"/>
    <p:sldId id="358" r:id="rId27"/>
    <p:sldId id="341" r:id="rId28"/>
    <p:sldId id="342" r:id="rId29"/>
    <p:sldId id="343" r:id="rId30"/>
    <p:sldId id="30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49" d="100"/>
          <a:sy n="49" d="100"/>
        </p:scale>
        <p:origin x="38" y="509"/>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9/16/2026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22024" y="4332769"/>
            <a:ext cx="6970667" cy="1509825"/>
          </a:xfrm>
        </p:spPr>
        <p:txBody>
          <a:bodyPr vert="horz" lIns="91440" tIns="45720" rIns="91440" bIns="45720" rtlCol="0" anchor="t">
            <a:noAutofit/>
          </a:bodyPr>
          <a:lstStyle/>
          <a:p>
            <a:pPr>
              <a:lnSpc>
                <a:spcPct val="170000"/>
              </a:lnSpc>
              <a:defRPr sz="2000" b="0">
                <a:solidFill>
                  <a:srgbClr val="232323"/>
                </a:solidFill>
              </a:defRPr>
            </a:pPr>
            <a:r>
              <a:rPr lang="en-US" sz="2400" dirty="0">
                <a:latin typeface="Times New Roman" panose="02020603050405020304" pitchFamily="18" charset="0"/>
                <a:cs typeface="Times New Roman" panose="02020603050405020304" pitchFamily="18" charset="0"/>
              </a:rPr>
              <a:t>Student Name: </a:t>
            </a:r>
            <a:r>
              <a:rPr lang="en-US" sz="2400" dirty="0" err="1" smtClean="0">
                <a:latin typeface="Times New Roman" panose="02020603050405020304" pitchFamily="18" charset="0"/>
                <a:cs typeface="Times New Roman" panose="02020603050405020304" pitchFamily="18" charset="0"/>
              </a:rPr>
              <a:t>Sakshi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Raut</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College Name: </a:t>
            </a:r>
            <a:r>
              <a:rPr lang="en-US" sz="2400" dirty="0" err="1" smtClean="0">
                <a:latin typeface="Times New Roman" panose="02020603050405020304" pitchFamily="18" charset="0"/>
                <a:cs typeface="Times New Roman" panose="02020603050405020304" pitchFamily="18" charset="0"/>
              </a:rPr>
              <a:t>Usha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Pravin</a:t>
            </a:r>
            <a:r>
              <a:rPr lang="en-US" sz="2400" dirty="0" smtClean="0">
                <a:latin typeface="Times New Roman" panose="02020603050405020304" pitchFamily="18" charset="0"/>
                <a:cs typeface="Times New Roman" panose="02020603050405020304" pitchFamily="18" charset="0"/>
              </a:rPr>
              <a:t> Gandhi College</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AICTE STU ID: </a:t>
            </a:r>
            <a:r>
              <a:rPr lang="en-IN" sz="2400" dirty="0">
                <a:latin typeface="Times New Roman" panose="02020603050405020304" pitchFamily="18" charset="0"/>
                <a:cs typeface="Times New Roman" panose="02020603050405020304" pitchFamily="18" charset="0"/>
              </a:rPr>
              <a:t> STU68865b997a28c1753635737</a:t>
            </a:r>
            <a:endParaRPr lang="en-US" sz="2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368120" y="2704000"/>
            <a:ext cx="7992108" cy="1628769"/>
          </a:xfrm>
        </p:spPr>
        <p:txBody>
          <a:bodyPr>
            <a:normAutofit/>
          </a:bodyPr>
          <a:lstStyle/>
          <a:p>
            <a:r>
              <a:rPr lang="en-GB" sz="3600" b="1" dirty="0">
                <a:latin typeface="Times New Roman" panose="02020603050405020304" pitchFamily="18" charset="0"/>
                <a:cs typeface="Times New Roman" panose="02020603050405020304" pitchFamily="18" charset="0"/>
              </a:rPr>
              <a:t>Project Title </a:t>
            </a:r>
            <a:r>
              <a:rPr lang="en-GB" sz="3600" b="1" dirty="0" smtClean="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Seasonal Agriculture</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Performance </a:t>
            </a: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246380" y="1340528"/>
            <a:ext cx="9709962" cy="2614801"/>
          </a:xfrm>
        </p:spPr>
        <p:txBody>
          <a:bodyPr vert="horz" lIns="91440" tIns="45720" rIns="91440" bIns="45720" rtlCol="0" anchor="t">
            <a:normAutofit/>
          </a:bodyPr>
          <a:lstStyle/>
          <a:p>
            <a:pPr marL="0" indent="0">
              <a:buNone/>
            </a:pPr>
            <a:r>
              <a:rPr lang="en-US" sz="2400" dirty="0">
                <a:latin typeface="Times New Roman" panose="02020603050405020304" pitchFamily="18" charset="0"/>
                <a:cs typeface="Times New Roman" panose="02020603050405020304" pitchFamily="18" charset="0"/>
              </a:rPr>
              <a:t>Agricultural performance is influenced by seasonal variations in environmental conditions, farming practices, resource availability, and market conditions. However, raw agricultural data does not clearly explain how performance changes across seasons or what patterns exist under different seasonal conditions.</a:t>
            </a:r>
          </a:p>
          <a:p>
            <a:pPr>
              <a:lnSpc>
                <a:spcPct val="100000"/>
              </a:lnSpc>
            </a:pP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246380" y="387131"/>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8893755" y="2972655"/>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TextBox 2"/>
          <p:cNvSpPr txBox="1"/>
          <p:nvPr/>
        </p:nvSpPr>
        <p:spPr>
          <a:xfrm>
            <a:off x="246380" y="3559408"/>
            <a:ext cx="8435386" cy="2677656"/>
          </a:xfrm>
          <a:prstGeom prst="rect">
            <a:avLst/>
          </a:prstGeom>
          <a:noFill/>
        </p:spPr>
        <p:txBody>
          <a:bodyPr wrap="square" rtlCol="0">
            <a:spAutoFit/>
          </a:bodyPr>
          <a:lstStyle/>
          <a:p>
            <a:pPr>
              <a:spcAft>
                <a:spcPts val="900"/>
              </a:spcAft>
              <a:defRPr sz="1900">
                <a:solidFill>
                  <a:srgbClr val="232323"/>
                </a:solidFill>
              </a:defRPr>
            </a:pPr>
            <a:r>
              <a:rPr lang="en-US" sz="2400" dirty="0">
                <a:latin typeface="Times New Roman" panose="02020603050405020304" pitchFamily="18" charset="0"/>
                <a:cs typeface="Times New Roman" panose="02020603050405020304" pitchFamily="18" charset="0"/>
              </a:rPr>
              <a:t>• Analyze seasonal differences in agricultural performance.</a:t>
            </a:r>
          </a:p>
          <a:p>
            <a:pPr>
              <a:spcAft>
                <a:spcPts val="900"/>
              </a:spcAft>
              <a:defRPr sz="1900">
                <a:solidFill>
                  <a:srgbClr val="232323"/>
                </a:solidFill>
              </a:defRPr>
            </a:pPr>
            <a:r>
              <a:rPr lang="en-US" sz="2400" dirty="0">
                <a:latin typeface="Times New Roman" panose="02020603050405020304" pitchFamily="18" charset="0"/>
                <a:cs typeface="Times New Roman" panose="02020603050405020304" pitchFamily="18" charset="0"/>
              </a:rPr>
              <a:t>• Identify meaningful patterns, trends, relationships, and variations.</a:t>
            </a:r>
          </a:p>
          <a:p>
            <a:pPr>
              <a:spcAft>
                <a:spcPts val="900"/>
              </a:spcAft>
              <a:defRPr sz="1900">
                <a:solidFill>
                  <a:srgbClr val="232323"/>
                </a:solidFill>
              </a:defRPr>
            </a:pPr>
            <a:r>
              <a:rPr lang="en-US" sz="2400" dirty="0">
                <a:latin typeface="Times New Roman" panose="02020603050405020304" pitchFamily="18" charset="0"/>
                <a:cs typeface="Times New Roman" panose="02020603050405020304" pitchFamily="18" charset="0"/>
              </a:rPr>
              <a:t>• Examine environmental conditions, resource usage, and economic </a:t>
            </a:r>
            <a:r>
              <a:rPr lang="en-US" sz="2400" dirty="0" smtClean="0">
                <a:latin typeface="Times New Roman" panose="02020603050405020304" pitchFamily="18" charset="0"/>
                <a:cs typeface="Times New Roman" panose="02020603050405020304" pitchFamily="18" charset="0"/>
              </a:rPr>
              <a:t>  outcomes</a:t>
            </a:r>
            <a:r>
              <a:rPr lang="en-US" sz="2400" dirty="0">
                <a:latin typeface="Times New Roman" panose="02020603050405020304" pitchFamily="18" charset="0"/>
                <a:cs typeface="Times New Roman" panose="02020603050405020304" pitchFamily="18" charset="0"/>
              </a:rPr>
              <a:t>.</a:t>
            </a:r>
          </a:p>
          <a:p>
            <a:pPr>
              <a:spcAft>
                <a:spcPts val="900"/>
              </a:spcAft>
              <a:defRPr sz="1900">
                <a:solidFill>
                  <a:srgbClr val="232323"/>
                </a:solidFill>
              </a:defRPr>
            </a:pPr>
            <a:r>
              <a:rPr lang="en-US" sz="2400" dirty="0">
                <a:latin typeface="Times New Roman" panose="02020603050405020304" pitchFamily="18" charset="0"/>
                <a:cs typeface="Times New Roman" panose="02020603050405020304" pitchFamily="18" charset="0"/>
              </a:rPr>
              <a:t>• Support evidence-based agricultural planning.</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528883" y="1232942"/>
            <a:ext cx="8353743" cy="1709388"/>
          </a:xfrm>
        </p:spPr>
        <p:txBody>
          <a:bodyPr>
            <a:noAutofit/>
          </a:bodyPr>
          <a:lstStyle/>
          <a:p>
            <a:r>
              <a:rPr lang="en-US" sz="2400" b="0" dirty="0" smtClean="0">
                <a:latin typeface="Times New Roman" panose="02020603050405020304" pitchFamily="18" charset="0"/>
                <a:cs typeface="Times New Roman" panose="02020603050405020304" pitchFamily="18" charset="0"/>
              </a:rPr>
              <a:t>This </a:t>
            </a:r>
            <a:r>
              <a:rPr lang="en-US" sz="2400" b="0" dirty="0">
                <a:latin typeface="Times New Roman" panose="02020603050405020304" pitchFamily="18" charset="0"/>
                <a:cs typeface="Times New Roman" panose="02020603050405020304" pitchFamily="18" charset="0"/>
              </a:rPr>
              <a:t>project analyzes a structured agricultural dataset containing 4,000 records and 28 variables covering seasons, crops, locations, environmental conditions, farming inputs, irrigation methods, production, and economic performance.</a:t>
            </a:r>
            <a:r>
              <a:rPr lang="en-US" sz="2800" b="0" dirty="0">
                <a:latin typeface="Times New Roman" panose="02020603050405020304" pitchFamily="18" charset="0"/>
                <a:cs typeface="Times New Roman" panose="02020603050405020304" pitchFamily="18" charset="0"/>
              </a:rPr>
              <a:t/>
            </a:r>
            <a:br>
              <a:rPr lang="en-US" sz="2800" b="0" dirty="0">
                <a:latin typeface="Times New Roman" panose="02020603050405020304" pitchFamily="18" charset="0"/>
                <a:cs typeface="Times New Roman" panose="02020603050405020304" pitchFamily="18" charset="0"/>
              </a:rPr>
            </a:br>
            <a:r>
              <a:rPr lang="en-GB" sz="2800" b="0" dirty="0">
                <a:latin typeface="Times New Roman" panose="02020603050405020304" pitchFamily="18" charset="0"/>
                <a:cs typeface="Times New Roman" panose="02020603050405020304" pitchFamily="18" charset="0"/>
              </a:rPr>
              <a:t/>
            </a:r>
            <a:br>
              <a:rPr lang="en-GB" sz="2800" b="0" dirty="0">
                <a:latin typeface="Times New Roman" panose="02020603050405020304" pitchFamily="18" charset="0"/>
                <a:cs typeface="Times New Roman" panose="02020603050405020304" pitchFamily="18" charset="0"/>
              </a:rPr>
            </a:br>
            <a:endParaRPr lang="en-IN" sz="28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528883" y="440872"/>
            <a:ext cx="6570255" cy="107721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PROJECT DESCRIPTION</a:t>
            </a:r>
          </a:p>
          <a:p>
            <a:endParaRPr lang="en-IN" sz="32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528883" y="2973059"/>
            <a:ext cx="8108931" cy="3031599"/>
          </a:xfrm>
          <a:prstGeom prst="rect">
            <a:avLst/>
          </a:prstGeom>
          <a:noFill/>
        </p:spPr>
        <p:txBody>
          <a:bodyPr wrap="square" rtlCol="0">
            <a:spAutoFit/>
          </a:bodyPr>
          <a:lstStyle/>
          <a:p>
            <a:pPr>
              <a:spcAft>
                <a:spcPts val="900"/>
              </a:spcAft>
              <a:defRPr sz="1900">
                <a:solidFill>
                  <a:srgbClr val="232323"/>
                </a:solidFill>
              </a:defRPr>
            </a:pPr>
            <a:r>
              <a:rPr lang="en-US" sz="2300" dirty="0">
                <a:latin typeface="Times New Roman" panose="02020603050405020304" pitchFamily="18" charset="0"/>
                <a:cs typeface="Times New Roman" panose="02020603050405020304" pitchFamily="18" charset="0"/>
              </a:rPr>
              <a:t>• Explore and clean the agricultural dataset.</a:t>
            </a:r>
          </a:p>
          <a:p>
            <a:pPr>
              <a:spcAft>
                <a:spcPts val="900"/>
              </a:spcAft>
              <a:defRPr sz="1900">
                <a:solidFill>
                  <a:srgbClr val="232323"/>
                </a:solidFill>
              </a:defRPr>
            </a:pPr>
            <a:r>
              <a:rPr lang="en-US" sz="2300" dirty="0">
                <a:latin typeface="Times New Roman" panose="02020603050405020304" pitchFamily="18" charset="0"/>
                <a:cs typeface="Times New Roman" panose="02020603050405020304" pitchFamily="18" charset="0"/>
              </a:rPr>
              <a:t>• Compare yield, production, revenue, cost, and profit across seasons.</a:t>
            </a:r>
          </a:p>
          <a:p>
            <a:pPr>
              <a:spcAft>
                <a:spcPts val="900"/>
              </a:spcAft>
              <a:defRPr sz="1900">
                <a:solidFill>
                  <a:srgbClr val="232323"/>
                </a:solidFill>
              </a:defRPr>
            </a:pPr>
            <a:r>
              <a:rPr lang="en-US" sz="2300" dirty="0">
                <a:latin typeface="Times New Roman" panose="02020603050405020304" pitchFamily="18" charset="0"/>
                <a:cs typeface="Times New Roman" panose="02020603050405020304" pitchFamily="18" charset="0"/>
              </a:rPr>
              <a:t>• Analyze environmental conditions and resource usage.</a:t>
            </a:r>
          </a:p>
          <a:p>
            <a:pPr>
              <a:spcAft>
                <a:spcPts val="900"/>
              </a:spcAft>
              <a:defRPr sz="1900">
                <a:solidFill>
                  <a:srgbClr val="232323"/>
                </a:solidFill>
              </a:defRPr>
            </a:pPr>
            <a:r>
              <a:rPr lang="en-US" sz="2300" dirty="0">
                <a:latin typeface="Times New Roman" panose="02020603050405020304" pitchFamily="18" charset="0"/>
                <a:cs typeface="Times New Roman" panose="02020603050405020304" pitchFamily="18" charset="0"/>
              </a:rPr>
              <a:t>• Study relationships between agricultural variables using correlation analysis.</a:t>
            </a:r>
          </a:p>
          <a:p>
            <a:pPr>
              <a:spcAft>
                <a:spcPts val="900"/>
              </a:spcAft>
              <a:defRPr sz="1900">
                <a:solidFill>
                  <a:srgbClr val="232323"/>
                </a:solidFill>
              </a:defRPr>
            </a:pPr>
            <a:r>
              <a:rPr lang="en-US" sz="2300" dirty="0">
                <a:latin typeface="Times New Roman" panose="02020603050405020304" pitchFamily="18" charset="0"/>
                <a:cs typeface="Times New Roman" panose="02020603050405020304" pitchFamily="18" charset="0"/>
              </a:rPr>
              <a:t>• Present data-driven insights through clear visualizations</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77500" lnSpcReduction="20000"/>
          </a:bodyPr>
          <a:lstStyle/>
          <a:p>
            <a:pPr marL="0" indent="0">
              <a:lnSpc>
                <a:spcPct val="120000"/>
              </a:lnSpc>
              <a:spcAft>
                <a:spcPts val="900"/>
              </a:spcAft>
              <a:buNone/>
              <a:defRPr sz="2300">
                <a:solidFill>
                  <a:srgbClr val="232323"/>
                </a:solidFill>
              </a:defRPr>
            </a:pPr>
            <a:r>
              <a:rPr lang="en-US" sz="3600" dirty="0"/>
              <a:t>• </a:t>
            </a:r>
            <a:r>
              <a:rPr lang="en-US" sz="3600" dirty="0">
                <a:latin typeface="Times New Roman" panose="02020603050405020304" pitchFamily="18" charset="0"/>
                <a:cs typeface="Times New Roman" panose="02020603050405020304" pitchFamily="18" charset="0"/>
              </a:rPr>
              <a:t>Farmers and agricultural producers</a:t>
            </a:r>
          </a:p>
          <a:p>
            <a:pPr marL="0" indent="0">
              <a:lnSpc>
                <a:spcPct val="120000"/>
              </a:lnSpc>
              <a:spcAft>
                <a:spcPts val="900"/>
              </a:spcAft>
              <a:buNone/>
              <a:defRPr sz="2300">
                <a:solidFill>
                  <a:srgbClr val="232323"/>
                </a:solidFill>
              </a:defRPr>
            </a:pPr>
            <a:r>
              <a:rPr lang="en-US" sz="3600" dirty="0">
                <a:latin typeface="Times New Roman" panose="02020603050405020304" pitchFamily="18" charset="0"/>
                <a:cs typeface="Times New Roman" panose="02020603050405020304" pitchFamily="18" charset="0"/>
              </a:rPr>
              <a:t>• Agricultural planners and extension officers</a:t>
            </a:r>
          </a:p>
          <a:p>
            <a:pPr marL="0" indent="0">
              <a:lnSpc>
                <a:spcPct val="120000"/>
              </a:lnSpc>
              <a:spcAft>
                <a:spcPts val="900"/>
              </a:spcAft>
              <a:buNone/>
              <a:defRPr sz="2300">
                <a:solidFill>
                  <a:srgbClr val="232323"/>
                </a:solidFill>
              </a:defRPr>
            </a:pPr>
            <a:r>
              <a:rPr lang="en-US" sz="3600" dirty="0">
                <a:latin typeface="Times New Roman" panose="02020603050405020304" pitchFamily="18" charset="0"/>
                <a:cs typeface="Times New Roman" panose="02020603050405020304" pitchFamily="18" charset="0"/>
              </a:rPr>
              <a:t>• Agribusiness and farm-management organizations</a:t>
            </a:r>
          </a:p>
          <a:p>
            <a:pPr marL="0" indent="0">
              <a:lnSpc>
                <a:spcPct val="120000"/>
              </a:lnSpc>
              <a:spcAft>
                <a:spcPts val="900"/>
              </a:spcAft>
              <a:buNone/>
              <a:defRPr sz="2300">
                <a:solidFill>
                  <a:srgbClr val="232323"/>
                </a:solidFill>
              </a:defRPr>
            </a:pPr>
            <a:r>
              <a:rPr lang="en-US" sz="3600" dirty="0">
                <a:latin typeface="Times New Roman" panose="02020603050405020304" pitchFamily="18" charset="0"/>
                <a:cs typeface="Times New Roman" panose="02020603050405020304" pitchFamily="18" charset="0"/>
              </a:rPr>
              <a:t>• Researchers and students</a:t>
            </a:r>
          </a:p>
          <a:p>
            <a:pPr marL="0" indent="0">
              <a:lnSpc>
                <a:spcPct val="120000"/>
              </a:lnSpc>
              <a:spcAft>
                <a:spcPts val="900"/>
              </a:spcAft>
              <a:buNone/>
              <a:defRPr sz="2300">
                <a:solidFill>
                  <a:srgbClr val="232323"/>
                </a:solidFill>
              </a:defRPr>
            </a:pPr>
            <a:r>
              <a:rPr lang="en-US" sz="3600" dirty="0">
                <a:latin typeface="Times New Roman" panose="02020603050405020304" pitchFamily="18" charset="0"/>
                <a:cs typeface="Times New Roman" panose="02020603050405020304" pitchFamily="18" charset="0"/>
              </a:rPr>
              <a:t>• Policy makers and resource-management stakeholders</a:t>
            </a:r>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1207047" y="1315059"/>
            <a:ext cx="9027702" cy="5243448"/>
          </a:xfrm>
        </p:spPr>
        <p:txBody>
          <a:bodyPr>
            <a:normAutofit/>
          </a:bodyPr>
          <a:lstStyle/>
          <a:p>
            <a:pPr marL="0" indent="0">
              <a:lnSpc>
                <a:spcPct val="100000"/>
              </a:lnSpc>
              <a:spcAft>
                <a:spcPts val="900"/>
              </a:spcAft>
              <a:buNone/>
              <a:defRPr sz="2000">
                <a:solidFill>
                  <a:srgbClr val="232323"/>
                </a:solidFill>
              </a:defRPr>
            </a:pPr>
            <a:r>
              <a:rPr lang="en-IN" sz="2400" dirty="0">
                <a:latin typeface="Times New Roman" panose="02020603050405020304" pitchFamily="18" charset="0"/>
                <a:cs typeface="Times New Roman" panose="02020603050405020304" pitchFamily="18" charset="0"/>
              </a:rPr>
              <a:t>• Python — Programming language for data analysis</a:t>
            </a:r>
          </a:p>
          <a:p>
            <a:pPr marL="0" indent="0">
              <a:lnSpc>
                <a:spcPct val="100000"/>
              </a:lnSpc>
              <a:spcAft>
                <a:spcPts val="900"/>
              </a:spcAft>
              <a:buNone/>
              <a:defRPr sz="2000">
                <a:solidFill>
                  <a:srgbClr val="232323"/>
                </a:solidFill>
              </a:defRPr>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 — Interactive coding and documentation</a:t>
            </a:r>
          </a:p>
          <a:p>
            <a:pPr marL="0" indent="0">
              <a:lnSpc>
                <a:spcPct val="100000"/>
              </a:lnSpc>
              <a:spcAft>
                <a:spcPts val="900"/>
              </a:spcAft>
              <a:buNone/>
              <a:defRPr sz="2000">
                <a:solidFill>
                  <a:srgbClr val="232323"/>
                </a:solidFill>
              </a:defRPr>
            </a:pPr>
            <a:r>
              <a:rPr lang="en-IN" sz="2400" dirty="0">
                <a:latin typeface="Times New Roman" panose="02020603050405020304" pitchFamily="18" charset="0"/>
                <a:cs typeface="Times New Roman" panose="02020603050405020304" pitchFamily="18" charset="0"/>
              </a:rPr>
              <a:t>• Pandas — Data loading, cleaning, grouping, and </a:t>
            </a:r>
            <a:r>
              <a:rPr lang="en-IN" sz="2400" dirty="0" smtClean="0">
                <a:latin typeface="Times New Roman" panose="02020603050405020304" pitchFamily="18" charset="0"/>
                <a:cs typeface="Times New Roman" panose="02020603050405020304" pitchFamily="18" charset="0"/>
              </a:rPr>
              <a:t>analysis</a:t>
            </a:r>
          </a:p>
          <a:p>
            <a:pPr marL="0" indent="0">
              <a:lnSpc>
                <a:spcPct val="100000"/>
              </a:lnSpc>
              <a:spcAft>
                <a:spcPts val="900"/>
              </a:spcAft>
              <a:buNone/>
              <a:defRPr sz="2000">
                <a:solidFill>
                  <a:srgbClr val="232323"/>
                </a:solidFill>
              </a:defRPr>
            </a:pPr>
            <a:r>
              <a:rPr lang="en-IN" sz="2400" dirty="0" smtClean="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NumPy</a:t>
            </a:r>
            <a:r>
              <a:rPr lang="en-IN" sz="2400" dirty="0">
                <a:latin typeface="Times New Roman" panose="02020603050405020304" pitchFamily="18" charset="0"/>
                <a:cs typeface="Times New Roman" panose="02020603050405020304" pitchFamily="18" charset="0"/>
              </a:rPr>
              <a:t> — Numerical operations</a:t>
            </a:r>
          </a:p>
          <a:p>
            <a:pPr marL="0" indent="0">
              <a:lnSpc>
                <a:spcPct val="100000"/>
              </a:lnSpc>
              <a:spcAft>
                <a:spcPts val="900"/>
              </a:spcAft>
              <a:buNone/>
              <a:defRPr sz="2000">
                <a:solidFill>
                  <a:srgbClr val="232323"/>
                </a:solidFill>
              </a:defRPr>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Matplotlib</a:t>
            </a:r>
            <a:r>
              <a:rPr lang="en-IN" sz="2400" dirty="0">
                <a:latin typeface="Times New Roman" panose="02020603050405020304" pitchFamily="18" charset="0"/>
                <a:cs typeface="Times New Roman" panose="02020603050405020304" pitchFamily="18" charset="0"/>
              </a:rPr>
              <a:t> — Visualization</a:t>
            </a:r>
          </a:p>
          <a:p>
            <a:pPr marL="0" indent="0">
              <a:lnSpc>
                <a:spcPct val="100000"/>
              </a:lnSpc>
              <a:spcAft>
                <a:spcPts val="900"/>
              </a:spcAft>
              <a:buNone/>
              <a:defRPr sz="2000">
                <a:solidFill>
                  <a:srgbClr val="232323"/>
                </a:solidFill>
              </a:defRPr>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Seaborn</a:t>
            </a:r>
            <a:r>
              <a:rPr lang="en-IN" sz="2400" dirty="0">
                <a:latin typeface="Times New Roman" panose="02020603050405020304" pitchFamily="18" charset="0"/>
                <a:cs typeface="Times New Roman" panose="02020603050405020304" pitchFamily="18" charset="0"/>
              </a:rPr>
              <a:t> — Statistical charts and </a:t>
            </a:r>
            <a:r>
              <a:rPr lang="en-IN" sz="2400" dirty="0" err="1">
                <a:latin typeface="Times New Roman" panose="02020603050405020304" pitchFamily="18" charset="0"/>
                <a:cs typeface="Times New Roman" panose="02020603050405020304" pitchFamily="18" charset="0"/>
              </a:rPr>
              <a:t>heatmaps</a:t>
            </a:r>
            <a:endParaRPr lang="en-IN" sz="2400" dirty="0">
              <a:latin typeface="Times New Roman" panose="02020603050405020304" pitchFamily="18" charset="0"/>
              <a:cs typeface="Times New Roman" panose="02020603050405020304" pitchFamily="18" charset="0"/>
            </a:endParaRPr>
          </a:p>
          <a:p>
            <a:pPr marL="0" indent="0">
              <a:lnSpc>
                <a:spcPct val="100000"/>
              </a:lnSpc>
              <a:spcAft>
                <a:spcPts val="900"/>
              </a:spcAft>
              <a:buNone/>
              <a:defRPr sz="2000">
                <a:solidFill>
                  <a:srgbClr val="232323"/>
                </a:solidFill>
              </a:defRPr>
            </a:pPr>
            <a:r>
              <a:rPr lang="en-IN" sz="2400" dirty="0">
                <a:latin typeface="Times New Roman" panose="02020603050405020304" pitchFamily="18" charset="0"/>
                <a:cs typeface="Times New Roman" panose="02020603050405020304" pitchFamily="18" charset="0"/>
              </a:rPr>
              <a:t>• CSV — Dataset format</a:t>
            </a:r>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914400" y="343611"/>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5036187" y="786087"/>
            <a:ext cx="6850838" cy="5083154"/>
          </a:xfrm>
          <a:prstGeom prst="rect">
            <a:avLst/>
          </a:prstGeom>
        </p:spPr>
        <p:style>
          <a:lnRef idx="2">
            <a:schemeClr val="accent4"/>
          </a:lnRef>
          <a:fillRef idx="1">
            <a:schemeClr val="lt1"/>
          </a:fillRef>
          <a:effectRef idx="0">
            <a:schemeClr val="accent4"/>
          </a:effectRef>
          <a:fontRef idx="minor">
            <a:schemeClr val="dk1"/>
          </a:fontRef>
        </p:style>
      </p:pic>
      <p:sp>
        <p:nvSpPr>
          <p:cNvPr id="3" name="TextBox 2"/>
          <p:cNvSpPr txBox="1"/>
          <p:nvPr/>
        </p:nvSpPr>
        <p:spPr>
          <a:xfrm>
            <a:off x="229781" y="1608409"/>
            <a:ext cx="4715205" cy="332398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Key Finding</a:t>
            </a:r>
          </a:p>
          <a:p>
            <a:r>
              <a:rPr lang="en-US" sz="2400" dirty="0">
                <a:latin typeface="Times New Roman" panose="02020603050405020304" pitchFamily="18" charset="0"/>
                <a:cs typeface="Times New Roman" panose="02020603050405020304" pitchFamily="18" charset="0"/>
              </a:rPr>
              <a:t>The dataset contains the highest number of agricultural records for the </a:t>
            </a:r>
            <a:r>
              <a:rPr lang="en-US" sz="2400" dirty="0" err="1">
                <a:latin typeface="Times New Roman" panose="02020603050405020304" pitchFamily="18" charset="0"/>
                <a:cs typeface="Times New Roman" panose="02020603050405020304" pitchFamily="18" charset="0"/>
              </a:rPr>
              <a:t>Kharif</a:t>
            </a:r>
            <a:r>
              <a:rPr lang="en-US" sz="2400" dirty="0">
                <a:latin typeface="Times New Roman" panose="02020603050405020304" pitchFamily="18" charset="0"/>
                <a:cs typeface="Times New Roman" panose="02020603050405020304" pitchFamily="18" charset="0"/>
              </a:rPr>
              <a:t> season, followed by Rabi and Zaid.</a:t>
            </a:r>
          </a:p>
          <a:p>
            <a:r>
              <a:rPr lang="en-US" sz="2400" dirty="0" err="1">
                <a:latin typeface="Times New Roman" panose="02020603050405020304" pitchFamily="18" charset="0"/>
                <a:cs typeface="Times New Roman" panose="02020603050405020304" pitchFamily="18" charset="0"/>
              </a:rPr>
              <a:t>Kharif</a:t>
            </a:r>
            <a:r>
              <a:rPr lang="en-US" sz="2400" dirty="0">
                <a:latin typeface="Times New Roman" panose="02020603050405020304" pitchFamily="18" charset="0"/>
                <a:cs typeface="Times New Roman" panose="02020603050405020304" pitchFamily="18" charset="0"/>
              </a:rPr>
              <a:t>: Approximately 1,779 records</a:t>
            </a:r>
          </a:p>
          <a:p>
            <a:r>
              <a:rPr lang="en-US" sz="2400" dirty="0">
                <a:latin typeface="Times New Roman" panose="02020603050405020304" pitchFamily="18" charset="0"/>
                <a:cs typeface="Times New Roman" panose="02020603050405020304" pitchFamily="18" charset="0"/>
              </a:rPr>
              <a:t>Rabi: Approximately 1,627 records</a:t>
            </a:r>
          </a:p>
          <a:p>
            <a:r>
              <a:rPr lang="en-US" sz="2400" dirty="0">
                <a:latin typeface="Times New Roman" panose="02020603050405020304" pitchFamily="18" charset="0"/>
                <a:cs typeface="Times New Roman" panose="02020603050405020304" pitchFamily="18" charset="0"/>
              </a:rPr>
              <a:t>Zaid: Approximately 594 records</a:t>
            </a:r>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320982" y="1608410"/>
            <a:ext cx="5050143" cy="406265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Key </a:t>
            </a:r>
            <a:r>
              <a:rPr lang="en-US" sz="2400" b="1" dirty="0" smtClean="0">
                <a:latin typeface="Times New Roman" panose="02020603050405020304" pitchFamily="18" charset="0"/>
                <a:cs typeface="Times New Roman" panose="02020603050405020304" pitchFamily="18" charset="0"/>
              </a:rPr>
              <a:t>Finding</a:t>
            </a:r>
            <a:endParaRPr lang="en-US" sz="2400" b="1"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buFontTx/>
              <a:buChar char="•"/>
            </a:pPr>
            <a:r>
              <a:rPr lang="en-US" sz="2400" dirty="0" smtClean="0">
                <a:latin typeface="Times New Roman" panose="02020603050405020304" pitchFamily="18" charset="0"/>
                <a:cs typeface="Times New Roman" panose="02020603050405020304" pitchFamily="18" charset="0"/>
              </a:rPr>
              <a:t> Rice </a:t>
            </a:r>
            <a:r>
              <a:rPr lang="en-US" sz="2400" dirty="0">
                <a:latin typeface="Times New Roman" panose="02020603050405020304" pitchFamily="18" charset="0"/>
                <a:cs typeface="Times New Roman" panose="02020603050405020304" pitchFamily="18" charset="0"/>
              </a:rPr>
              <a:t>has the highest number of agricultural records, followed by Wheat and Maize.</a:t>
            </a:r>
          </a:p>
          <a:p>
            <a:pPr lvl="0" defTabSz="914400" eaLnBrk="0" fontAlgn="base" hangingPunct="0">
              <a:spcBef>
                <a:spcPct val="0"/>
              </a:spcBef>
              <a:spcAft>
                <a:spcPct val="0"/>
              </a:spcAft>
              <a:buFontTx/>
              <a:buChar char="•"/>
            </a:pPr>
            <a:r>
              <a:rPr lang="en-US" sz="2400" dirty="0" smtClean="0">
                <a:latin typeface="Times New Roman" panose="02020603050405020304" pitchFamily="18" charset="0"/>
                <a:cs typeface="Times New Roman" panose="02020603050405020304" pitchFamily="18" charset="0"/>
              </a:rPr>
              <a:t> Sugarcane </a:t>
            </a:r>
            <a:r>
              <a:rPr lang="en-US" sz="2400" dirty="0">
                <a:latin typeface="Times New Roman" panose="02020603050405020304" pitchFamily="18" charset="0"/>
                <a:cs typeface="Times New Roman" panose="02020603050405020304" pitchFamily="18" charset="0"/>
              </a:rPr>
              <a:t>has the lowest number of records in the dataset.</a:t>
            </a:r>
          </a:p>
          <a:p>
            <a:pPr lvl="0" defTabSz="914400" eaLnBrk="0" fontAlgn="base" hangingPunct="0">
              <a:spcBef>
                <a:spcPct val="0"/>
              </a:spcBef>
              <a:spcAft>
                <a:spcPct val="0"/>
              </a:spcAft>
              <a:buFontTx/>
              <a:buChar char="•"/>
            </a:pPr>
            <a:r>
              <a:rPr lang="en-US" sz="2400" dirty="0" smtClean="0">
                <a:latin typeface="Times New Roman" panose="02020603050405020304" pitchFamily="18" charset="0"/>
                <a:cs typeface="Times New Roman" panose="02020603050405020304" pitchFamily="18" charset="0"/>
              </a:rPr>
              <a:t> The </a:t>
            </a:r>
            <a:r>
              <a:rPr lang="en-US" sz="2400" dirty="0">
                <a:latin typeface="Times New Roman" panose="02020603050405020304" pitchFamily="18" charset="0"/>
                <a:cs typeface="Times New Roman" panose="02020603050405020304" pitchFamily="18" charset="0"/>
              </a:rPr>
              <a:t>crop records are distributed unevenly across the different crop categories.</a:t>
            </a:r>
          </a:p>
          <a:p>
            <a:endParaRPr lang="en-US"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pic>
        <p:nvPicPr>
          <p:cNvPr id="6" name="Picture 5"/>
          <p:cNvPicPr>
            <a:picLocks noChangeAspect="1"/>
          </p:cNvPicPr>
          <p:nvPr/>
        </p:nvPicPr>
        <p:blipFill rotWithShape="1">
          <a:blip r:embed="rId3"/>
          <a:srcRect l="230" t="-2" r="1851" b="2965"/>
          <a:stretch/>
        </p:blipFill>
        <p:spPr>
          <a:xfrm>
            <a:off x="5452769" y="1127050"/>
            <a:ext cx="6558418" cy="5072272"/>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397904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320982" y="1806828"/>
            <a:ext cx="4789861" cy="3793872"/>
          </a:xfrm>
        </p:spPr>
        <p:txBody>
          <a:bodyPr>
            <a:normAutofit fontScale="77500" lnSpcReduction="20000"/>
          </a:bodyPr>
          <a:lstStyle/>
          <a:p>
            <a:pPr marL="0" indent="0">
              <a:buNone/>
            </a:pPr>
            <a:r>
              <a:rPr lang="en-US" sz="2800" b="1" dirty="0">
                <a:latin typeface="Times New Roman" panose="02020603050405020304" pitchFamily="18" charset="0"/>
                <a:cs typeface="Times New Roman" panose="02020603050405020304" pitchFamily="18" charset="0"/>
              </a:rPr>
              <a:t>Key Finding</a:t>
            </a:r>
          </a:p>
          <a:p>
            <a:r>
              <a:rPr lang="en-US" sz="2800" dirty="0">
                <a:latin typeface="Times New Roman" panose="02020603050405020304" pitchFamily="18" charset="0"/>
                <a:cs typeface="Times New Roman" panose="02020603050405020304" pitchFamily="18" charset="0"/>
              </a:rPr>
              <a:t>Andhra Pradesh has the highest number of agricultural records.</a:t>
            </a:r>
          </a:p>
          <a:p>
            <a:r>
              <a:rPr lang="en-US" sz="2800" dirty="0" err="1">
                <a:latin typeface="Times New Roman" panose="02020603050405020304" pitchFamily="18" charset="0"/>
                <a:cs typeface="Times New Roman" panose="02020603050405020304" pitchFamily="18" charset="0"/>
              </a:rPr>
              <a:t>Telangana</a:t>
            </a:r>
            <a:r>
              <a:rPr lang="en-US" sz="2800" dirty="0">
                <a:latin typeface="Times New Roman" panose="02020603050405020304" pitchFamily="18" charset="0"/>
                <a:cs typeface="Times New Roman" panose="02020603050405020304" pitchFamily="18" charset="0"/>
              </a:rPr>
              <a:t> and Maharashtra follow closely.</a:t>
            </a:r>
          </a:p>
          <a:p>
            <a:r>
              <a:rPr lang="en-US" sz="2800" dirty="0">
                <a:latin typeface="Times New Roman" panose="02020603050405020304" pitchFamily="18" charset="0"/>
                <a:cs typeface="Times New Roman" panose="02020603050405020304" pitchFamily="18" charset="0"/>
              </a:rPr>
              <a:t>Punjab has the lowest number of records among the states shown.</a:t>
            </a:r>
          </a:p>
          <a:p>
            <a:r>
              <a:rPr lang="en-US" sz="2800" dirty="0">
                <a:latin typeface="Times New Roman" panose="02020603050405020304" pitchFamily="18" charset="0"/>
                <a:cs typeface="Times New Roman" panose="02020603050405020304" pitchFamily="18" charset="0"/>
              </a:rPr>
              <a:t>The difference between the states is relatively small, indicating a fairly balanced state-wise distribution.</a:t>
            </a:r>
          </a:p>
          <a:p>
            <a:pPr marL="0" indent="0">
              <a:buNone/>
            </a:pPr>
            <a:endParaRPr lang="en-IN" dirty="0"/>
          </a:p>
        </p:txBody>
      </p:sp>
      <p:pic>
        <p:nvPicPr>
          <p:cNvPr id="2" name="Picture 1"/>
          <p:cNvPicPr>
            <a:picLocks noChangeAspect="1"/>
          </p:cNvPicPr>
          <p:nvPr/>
        </p:nvPicPr>
        <p:blipFill>
          <a:blip r:embed="rId3"/>
          <a:stretch>
            <a:fillRect/>
          </a:stretch>
        </p:blipFill>
        <p:spPr>
          <a:xfrm>
            <a:off x="4851598" y="1163285"/>
            <a:ext cx="7198888" cy="5214409"/>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612195" y="1633760"/>
            <a:ext cx="4275138" cy="4098297"/>
          </a:xfrm>
        </p:spPr>
        <p:txBody>
          <a:bodyPr>
            <a:normAutofit fontScale="92500" lnSpcReduction="20000"/>
          </a:bodyPr>
          <a:lstStyle/>
          <a:p>
            <a:pPr marL="0" indent="0">
              <a:buNone/>
            </a:pPr>
            <a:r>
              <a:rPr lang="en-US" sz="2500" b="1" dirty="0">
                <a:latin typeface="Times New Roman" panose="02020603050405020304" pitchFamily="18" charset="0"/>
                <a:cs typeface="Times New Roman" panose="02020603050405020304" pitchFamily="18" charset="0"/>
              </a:rPr>
              <a:t>Key Finding</a:t>
            </a:r>
          </a:p>
          <a:p>
            <a:r>
              <a:rPr lang="en-US" sz="2500" dirty="0">
                <a:latin typeface="Times New Roman" panose="02020603050405020304" pitchFamily="18" charset="0"/>
                <a:cs typeface="Times New Roman" panose="02020603050405020304" pitchFamily="18" charset="0"/>
              </a:rPr>
              <a:t>Flood irrigation is the most commonly used irrigation method in the dataset.</a:t>
            </a:r>
          </a:p>
          <a:p>
            <a:r>
              <a:rPr lang="en-US" sz="2500" dirty="0" err="1">
                <a:latin typeface="Times New Roman" panose="02020603050405020304" pitchFamily="18" charset="0"/>
                <a:cs typeface="Times New Roman" panose="02020603050405020304" pitchFamily="18" charset="0"/>
              </a:rPr>
              <a:t>Rainfed</a:t>
            </a:r>
            <a:r>
              <a:rPr lang="en-US" sz="2500" dirty="0">
                <a:latin typeface="Times New Roman" panose="02020603050405020304" pitchFamily="18" charset="0"/>
                <a:cs typeface="Times New Roman" panose="02020603050405020304" pitchFamily="18" charset="0"/>
              </a:rPr>
              <a:t> irrigation/farming is the second most represented method.</a:t>
            </a:r>
          </a:p>
          <a:p>
            <a:r>
              <a:rPr lang="en-US" sz="2500" dirty="0">
                <a:latin typeface="Times New Roman" panose="02020603050405020304" pitchFamily="18" charset="0"/>
                <a:cs typeface="Times New Roman" panose="02020603050405020304" pitchFamily="18" charset="0"/>
              </a:rPr>
              <a:t>Drip irrigation has fewer records than Flood and </a:t>
            </a:r>
            <a:r>
              <a:rPr lang="en-US" sz="2500" dirty="0" err="1">
                <a:latin typeface="Times New Roman" panose="02020603050405020304" pitchFamily="18" charset="0"/>
                <a:cs typeface="Times New Roman" panose="02020603050405020304" pitchFamily="18" charset="0"/>
              </a:rPr>
              <a:t>Rainfed</a:t>
            </a:r>
            <a:r>
              <a:rPr lang="en-US" sz="2500" dirty="0">
                <a:latin typeface="Times New Roman" panose="02020603050405020304" pitchFamily="18" charset="0"/>
                <a:cs typeface="Times New Roman" panose="02020603050405020304" pitchFamily="18" charset="0"/>
              </a:rPr>
              <a:t> methods.</a:t>
            </a:r>
          </a:p>
          <a:p>
            <a:r>
              <a:rPr lang="en-US" sz="2500" dirty="0">
                <a:latin typeface="Times New Roman" panose="02020603050405020304" pitchFamily="18" charset="0"/>
                <a:cs typeface="Times New Roman" panose="02020603050405020304" pitchFamily="18" charset="0"/>
              </a:rPr>
              <a:t>Sprinkler irrigation has the lowest number of records.</a:t>
            </a:r>
          </a:p>
          <a:p>
            <a:pPr marL="0" indent="0">
              <a:buNone/>
            </a:pPr>
            <a:endParaRPr lang="en-IN" dirty="0"/>
          </a:p>
        </p:txBody>
      </p:sp>
      <p:pic>
        <p:nvPicPr>
          <p:cNvPr id="2" name="Picture 1"/>
          <p:cNvPicPr>
            <a:picLocks noChangeAspect="1"/>
          </p:cNvPicPr>
          <p:nvPr/>
        </p:nvPicPr>
        <p:blipFill>
          <a:blip r:embed="rId3"/>
          <a:stretch>
            <a:fillRect/>
          </a:stretch>
        </p:blipFill>
        <p:spPr>
          <a:xfrm>
            <a:off x="5178546" y="736188"/>
            <a:ext cx="6697561" cy="5410646"/>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45420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326934" y="1445941"/>
            <a:ext cx="4984501" cy="4574472"/>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Key Finding</a:t>
            </a:r>
          </a:p>
          <a:p>
            <a:r>
              <a:rPr lang="en-US" sz="2400" dirty="0" err="1">
                <a:latin typeface="Times New Roman" panose="02020603050405020304" pitchFamily="18" charset="0"/>
                <a:cs typeface="Times New Roman" panose="02020603050405020304" pitchFamily="18" charset="0"/>
              </a:rPr>
              <a:t>Kharif</a:t>
            </a:r>
            <a:r>
              <a:rPr lang="en-US" sz="2400" dirty="0">
                <a:latin typeface="Times New Roman" panose="02020603050405020304" pitchFamily="18" charset="0"/>
                <a:cs typeface="Times New Roman" panose="02020603050405020304" pitchFamily="18" charset="0"/>
              </a:rPr>
              <a:t> season has the highest average agricultural yield.</a:t>
            </a:r>
          </a:p>
          <a:p>
            <a:r>
              <a:rPr lang="en-US" sz="2400" dirty="0">
                <a:latin typeface="Times New Roman" panose="02020603050405020304" pitchFamily="18" charset="0"/>
                <a:cs typeface="Times New Roman" panose="02020603050405020304" pitchFamily="18" charset="0"/>
              </a:rPr>
              <a:t>Rabi season has the second-highest average yield.</a:t>
            </a:r>
          </a:p>
          <a:p>
            <a:r>
              <a:rPr lang="en-US" sz="2400" dirty="0">
                <a:latin typeface="Times New Roman" panose="02020603050405020304" pitchFamily="18" charset="0"/>
                <a:cs typeface="Times New Roman" panose="02020603050405020304" pitchFamily="18" charset="0"/>
              </a:rPr>
              <a:t>Zaid season has the lowest average yield among the three seasons.</a:t>
            </a:r>
          </a:p>
          <a:p>
            <a:pPr marL="0" indent="0">
              <a:buNone/>
            </a:pPr>
            <a:endParaRPr lang="en-IN" dirty="0"/>
          </a:p>
        </p:txBody>
      </p:sp>
      <p:pic>
        <p:nvPicPr>
          <p:cNvPr id="2" name="Picture 1"/>
          <p:cNvPicPr>
            <a:picLocks noChangeAspect="1"/>
          </p:cNvPicPr>
          <p:nvPr/>
        </p:nvPicPr>
        <p:blipFill>
          <a:blip r:embed="rId3"/>
          <a:stretch>
            <a:fillRect/>
          </a:stretch>
        </p:blipFill>
        <p:spPr>
          <a:xfrm>
            <a:off x="5311434" y="882607"/>
            <a:ext cx="6684253" cy="5685833"/>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3945030" y="1036995"/>
            <a:ext cx="8019741" cy="5434925"/>
          </a:xfrm>
          <a:prstGeom prst="rect">
            <a:avLst/>
          </a:prstGeom>
        </p:spPr>
        <p:style>
          <a:lnRef idx="2">
            <a:schemeClr val="accent4"/>
          </a:lnRef>
          <a:fillRef idx="1">
            <a:schemeClr val="lt1"/>
          </a:fillRef>
          <a:effectRef idx="0">
            <a:schemeClr val="accent4"/>
          </a:effectRef>
          <a:fontRef idx="minor">
            <a:schemeClr val="dk1"/>
          </a:fontRef>
        </p:style>
      </p:pic>
      <p:sp>
        <p:nvSpPr>
          <p:cNvPr id="6" name="Rectangle 1"/>
          <p:cNvSpPr>
            <a:spLocks noGrp="1" noChangeArrowheads="1"/>
          </p:cNvSpPr>
          <p:nvPr>
            <p:ph type="body" sz="quarter" idx="12"/>
          </p:nvPr>
        </p:nvSpPr>
        <p:spPr bwMode="auto">
          <a:xfrm>
            <a:off x="237782" y="1655745"/>
            <a:ext cx="334460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lang="en-US" sz="2400" b="1" dirty="0">
                <a:solidFill>
                  <a:schemeClr val="tx1"/>
                </a:solidFill>
                <a:latin typeface="Times New Roman" panose="02020603050405020304" pitchFamily="18" charset="0"/>
                <a:cs typeface="Times New Roman" panose="02020603050405020304" pitchFamily="18" charset="0"/>
              </a:rPr>
              <a:t>Key Findings</a:t>
            </a:r>
          </a:p>
          <a:p>
            <a:pPr marL="0" indent="0" defTabSz="914400" eaLnBrk="0" fontAlgn="base" hangingPunct="0">
              <a:spcBef>
                <a:spcPct val="0"/>
              </a:spcBef>
              <a:spcAft>
                <a:spcPct val="0"/>
              </a:spcAft>
              <a:buClrTx/>
              <a:buSzTx/>
              <a:buNone/>
            </a:pPr>
            <a:r>
              <a:rPr lang="en-US" sz="2400" dirty="0">
                <a:solidFill>
                  <a:schemeClr val="tx1"/>
                </a:solidFill>
                <a:latin typeface="Times New Roman" panose="02020603050405020304" pitchFamily="18" charset="0"/>
                <a:cs typeface="Times New Roman" panose="02020603050405020304" pitchFamily="18" charset="0"/>
              </a:rPr>
              <a:t>The chart compares the three seasons </a:t>
            </a:r>
            <a:r>
              <a:rPr lang="en-US" sz="2400" dirty="0" smtClean="0">
                <a:solidFill>
                  <a:schemeClr val="tx1"/>
                </a:solidFill>
                <a:latin typeface="Times New Roman" panose="02020603050405020304" pitchFamily="18" charset="0"/>
                <a:cs typeface="Times New Roman" panose="02020603050405020304" pitchFamily="18" charset="0"/>
              </a:rPr>
              <a:t>using average </a:t>
            </a:r>
            <a:r>
              <a:rPr lang="en-US" sz="2400" dirty="0">
                <a:solidFill>
                  <a:schemeClr val="tx1"/>
                </a:solidFill>
                <a:latin typeface="Times New Roman" panose="02020603050405020304" pitchFamily="18" charset="0"/>
                <a:cs typeface="Times New Roman" panose="02020603050405020304" pitchFamily="18" charset="0"/>
              </a:rPr>
              <a:t>yield, production, revenue, total cost, and profit.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562399" y="1758264"/>
            <a:ext cx="4275138" cy="3091321"/>
          </a:xfrm>
        </p:spPr>
        <p:txBody>
          <a:bodyPr>
            <a:normAutofit fontScale="85000" lnSpcReduction="20000"/>
          </a:bodyPr>
          <a:lstStyle/>
          <a:p>
            <a:pPr marL="0" indent="0">
              <a:buNone/>
            </a:pPr>
            <a:r>
              <a:rPr lang="en-US" sz="2600" b="1" dirty="0">
                <a:latin typeface="Times New Roman" panose="02020603050405020304" pitchFamily="18" charset="0"/>
                <a:cs typeface="Times New Roman" panose="02020603050405020304" pitchFamily="18" charset="0"/>
              </a:rPr>
              <a:t>Key Finding</a:t>
            </a:r>
          </a:p>
          <a:p>
            <a:r>
              <a:rPr lang="en-US" sz="2600" dirty="0" err="1">
                <a:latin typeface="Times New Roman" panose="02020603050405020304" pitchFamily="18" charset="0"/>
                <a:cs typeface="Times New Roman" panose="02020603050405020304" pitchFamily="18" charset="0"/>
              </a:rPr>
              <a:t>Kharif</a:t>
            </a:r>
            <a:r>
              <a:rPr lang="en-US" sz="2600" dirty="0">
                <a:latin typeface="Times New Roman" panose="02020603050405020304" pitchFamily="18" charset="0"/>
                <a:cs typeface="Times New Roman" panose="02020603050405020304" pitchFamily="18" charset="0"/>
              </a:rPr>
              <a:t> is the most profitable season.</a:t>
            </a:r>
          </a:p>
          <a:p>
            <a:r>
              <a:rPr lang="en-US" sz="2600" dirty="0">
                <a:latin typeface="Times New Roman" panose="02020603050405020304" pitchFamily="18" charset="0"/>
                <a:cs typeface="Times New Roman" panose="02020603050405020304" pitchFamily="18" charset="0"/>
              </a:rPr>
              <a:t>Rabi also generates a positive average profit but performs below </a:t>
            </a:r>
            <a:r>
              <a:rPr lang="en-US" sz="2600" dirty="0" err="1">
                <a:latin typeface="Times New Roman" panose="02020603050405020304" pitchFamily="18" charset="0"/>
                <a:cs typeface="Times New Roman" panose="02020603050405020304" pitchFamily="18" charset="0"/>
              </a:rPr>
              <a:t>Kharif</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Zaid records a negative average profit, indicating an average financial loss</a:t>
            </a:r>
            <a:r>
              <a:rPr lang="en-US" sz="2200" dirty="0"/>
              <a:t>.</a:t>
            </a:r>
          </a:p>
          <a:p>
            <a:pPr marL="0" indent="0">
              <a:buNone/>
            </a:pPr>
            <a:endParaRPr lang="en-IN" dirty="0"/>
          </a:p>
        </p:txBody>
      </p:sp>
      <p:pic>
        <p:nvPicPr>
          <p:cNvPr id="2" name="Picture 1"/>
          <p:cNvPicPr>
            <a:picLocks noChangeAspect="1"/>
          </p:cNvPicPr>
          <p:nvPr/>
        </p:nvPicPr>
        <p:blipFill>
          <a:blip r:embed="rId3"/>
          <a:stretch>
            <a:fillRect/>
          </a:stretch>
        </p:blipFill>
        <p:spPr>
          <a:xfrm>
            <a:off x="5191008" y="680384"/>
            <a:ext cx="6358795" cy="5611928"/>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45195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468159" y="392084"/>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468159" y="1293442"/>
            <a:ext cx="4953147" cy="391711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468159" y="1526724"/>
            <a:ext cx="4275138" cy="3450550"/>
          </a:xfrm>
        </p:spPr>
        <p:txBody>
          <a:bodyPr>
            <a:normAutofit fontScale="92500" lnSpcReduction="10000"/>
          </a:bodyPr>
          <a:lstStyle/>
          <a:p>
            <a:pPr marL="0" indent="0">
              <a:buNone/>
            </a:pPr>
            <a:r>
              <a:rPr lang="en-US" sz="2600" dirty="0" smtClean="0">
                <a:latin typeface="Times New Roman" panose="02020603050405020304" pitchFamily="18" charset="0"/>
                <a:cs typeface="Times New Roman" panose="02020603050405020304" pitchFamily="18" charset="0"/>
              </a:rPr>
              <a:t>Key Finding</a:t>
            </a:r>
          </a:p>
          <a:p>
            <a:pPr marL="0" lvl="0" indent="0" defTabSz="914400" eaLnBrk="0" fontAlgn="base" hangingPunct="0">
              <a:spcBef>
                <a:spcPct val="0"/>
              </a:spcBef>
              <a:spcAft>
                <a:spcPct val="0"/>
              </a:spcAft>
              <a:buClrTx/>
              <a:buSzTx/>
              <a:buFontTx/>
              <a:buChar char="•"/>
            </a:pPr>
            <a:r>
              <a:rPr lang="en-US" sz="2600" dirty="0">
                <a:solidFill>
                  <a:schemeClr val="tx1"/>
                </a:solidFill>
                <a:latin typeface="Times New Roman" panose="02020603050405020304" pitchFamily="18" charset="0"/>
                <a:cs typeface="Times New Roman" panose="02020603050405020304" pitchFamily="18" charset="0"/>
              </a:rPr>
              <a:t>The highest rainfall and humidity values are observed in </a:t>
            </a:r>
            <a:r>
              <a:rPr lang="en-US" sz="2600" dirty="0" err="1">
                <a:solidFill>
                  <a:schemeClr val="tx1"/>
                </a:solidFill>
                <a:latin typeface="Times New Roman" panose="02020603050405020304" pitchFamily="18" charset="0"/>
                <a:cs typeface="Times New Roman" panose="02020603050405020304" pitchFamily="18" charset="0"/>
              </a:rPr>
              <a:t>Kharif</a:t>
            </a:r>
            <a:r>
              <a:rPr lang="en-US" sz="2600" dirty="0">
                <a:solidFill>
                  <a:schemeClr val="tx1"/>
                </a:solidFill>
                <a:latin typeface="Times New Roman" panose="02020603050405020304" pitchFamily="18" charset="0"/>
                <a:cs typeface="Times New Roman" panose="02020603050405020304" pitchFamily="18" charset="0"/>
              </a:rPr>
              <a:t>.</a:t>
            </a:r>
          </a:p>
          <a:p>
            <a:pPr marL="0" lvl="0" indent="0" defTabSz="914400" eaLnBrk="0" fontAlgn="base" hangingPunct="0">
              <a:spcBef>
                <a:spcPct val="0"/>
              </a:spcBef>
              <a:spcAft>
                <a:spcPct val="0"/>
              </a:spcAft>
              <a:buClrTx/>
              <a:buSzTx/>
              <a:buFontTx/>
              <a:buChar char="•"/>
            </a:pPr>
            <a:r>
              <a:rPr lang="en-US" sz="2600" dirty="0">
                <a:solidFill>
                  <a:schemeClr val="tx1"/>
                </a:solidFill>
                <a:latin typeface="Times New Roman" panose="02020603050405020304" pitchFamily="18" charset="0"/>
                <a:cs typeface="Times New Roman" panose="02020603050405020304" pitchFamily="18" charset="0"/>
              </a:rPr>
              <a:t>Zaid has the highest temperature and sunlight duration.</a:t>
            </a:r>
          </a:p>
          <a:p>
            <a:pPr marL="0" lvl="0" indent="0" defTabSz="914400" eaLnBrk="0" fontAlgn="base" hangingPunct="0">
              <a:spcBef>
                <a:spcPct val="0"/>
              </a:spcBef>
              <a:spcAft>
                <a:spcPct val="0"/>
              </a:spcAft>
              <a:buClrTx/>
              <a:buSzTx/>
              <a:buFontTx/>
              <a:buChar char="•"/>
            </a:pPr>
            <a:r>
              <a:rPr lang="en-US" sz="2600" dirty="0" err="1">
                <a:solidFill>
                  <a:schemeClr val="tx1"/>
                </a:solidFill>
                <a:latin typeface="Times New Roman" panose="02020603050405020304" pitchFamily="18" charset="0"/>
                <a:cs typeface="Times New Roman" panose="02020603050405020304" pitchFamily="18" charset="0"/>
              </a:rPr>
              <a:t>Kharif</a:t>
            </a:r>
            <a:r>
              <a:rPr lang="en-US" sz="2600" dirty="0">
                <a:solidFill>
                  <a:schemeClr val="tx1"/>
                </a:solidFill>
                <a:latin typeface="Times New Roman" panose="02020603050405020304" pitchFamily="18" charset="0"/>
                <a:cs typeface="Times New Roman" panose="02020603050405020304" pitchFamily="18" charset="0"/>
              </a:rPr>
              <a:t> has the highest soil moisture.</a:t>
            </a:r>
          </a:p>
          <a:p>
            <a:pPr marL="0" lvl="0" indent="0" defTabSz="914400" eaLnBrk="0" fontAlgn="base" hangingPunct="0">
              <a:spcBef>
                <a:spcPct val="0"/>
              </a:spcBef>
              <a:spcAft>
                <a:spcPct val="0"/>
              </a:spcAft>
              <a:buClrTx/>
              <a:buSzTx/>
              <a:buFontTx/>
              <a:buChar char="•"/>
            </a:pPr>
            <a:r>
              <a:rPr lang="en-US" sz="2600" dirty="0">
                <a:solidFill>
                  <a:schemeClr val="tx1"/>
                </a:solidFill>
                <a:latin typeface="Times New Roman" panose="02020603050405020304" pitchFamily="18" charset="0"/>
                <a:cs typeface="Times New Roman" panose="02020603050405020304" pitchFamily="18" charset="0"/>
              </a:rPr>
              <a:t>Soil pH is almost similar across all three seasons.</a:t>
            </a:r>
          </a:p>
          <a:p>
            <a:pPr marL="0" indent="0">
              <a:buNone/>
            </a:pPr>
            <a:endParaRPr lang="en-IN" dirty="0"/>
          </a:p>
        </p:txBody>
      </p:sp>
      <p:pic>
        <p:nvPicPr>
          <p:cNvPr id="2" name="Picture 1"/>
          <p:cNvPicPr>
            <a:picLocks noChangeAspect="1"/>
          </p:cNvPicPr>
          <p:nvPr/>
        </p:nvPicPr>
        <p:blipFill>
          <a:blip r:embed="rId3"/>
          <a:stretch>
            <a:fillRect/>
          </a:stretch>
        </p:blipFill>
        <p:spPr>
          <a:xfrm>
            <a:off x="5101118" y="805912"/>
            <a:ext cx="6622796" cy="5666007"/>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53605" y="153897"/>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98828" y="152792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53605" y="1146906"/>
            <a:ext cx="3951514" cy="5325014"/>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Key Findings</a:t>
            </a:r>
          </a:p>
          <a:p>
            <a:r>
              <a:rPr lang="en-US" dirty="0" err="1">
                <a:latin typeface="Times New Roman" panose="02020603050405020304" pitchFamily="18" charset="0"/>
                <a:cs typeface="Times New Roman" panose="02020603050405020304" pitchFamily="18" charset="0"/>
              </a:rPr>
              <a:t>Kharif</a:t>
            </a:r>
            <a:r>
              <a:rPr lang="en-US" dirty="0">
                <a:latin typeface="Times New Roman" panose="02020603050405020304" pitchFamily="18" charset="0"/>
                <a:cs typeface="Times New Roman" panose="02020603050405020304" pitchFamily="18" charset="0"/>
              </a:rPr>
              <a:t> has the highest rainfall, humidity, and soil moisture levels.</a:t>
            </a:r>
          </a:p>
          <a:p>
            <a:r>
              <a:rPr lang="en-US" dirty="0">
                <a:latin typeface="Times New Roman" panose="02020603050405020304" pitchFamily="18" charset="0"/>
                <a:cs typeface="Times New Roman" panose="02020603050405020304" pitchFamily="18" charset="0"/>
              </a:rPr>
              <a:t>Zaid has the highest temperature and sunlight hours.</a:t>
            </a:r>
          </a:p>
          <a:p>
            <a:r>
              <a:rPr lang="en-US" dirty="0">
                <a:latin typeface="Times New Roman" panose="02020603050405020304" pitchFamily="18" charset="0"/>
                <a:cs typeface="Times New Roman" panose="02020603050405020304" pitchFamily="18" charset="0"/>
              </a:rPr>
              <a:t>Zaid also records the lowest soil moisture, indicating a greater need for irrigation.</a:t>
            </a:r>
          </a:p>
          <a:p>
            <a:r>
              <a:rPr lang="en-US" dirty="0">
                <a:latin typeface="Times New Roman" panose="02020603050405020304" pitchFamily="18" charset="0"/>
                <a:cs typeface="Times New Roman" panose="02020603050405020304" pitchFamily="18" charset="0"/>
              </a:rPr>
              <a:t>Rabi has comparatively lower temperatures and moderate environmental conditions.</a:t>
            </a:r>
          </a:p>
          <a:p>
            <a:r>
              <a:rPr lang="en-US" dirty="0">
                <a:latin typeface="Times New Roman" panose="02020603050405020304" pitchFamily="18" charset="0"/>
                <a:cs typeface="Times New Roman" panose="02020603050405020304" pitchFamily="18" charset="0"/>
              </a:rPr>
              <a:t>Soil pH remains relatively similar across all three seasons.</a:t>
            </a:r>
          </a:p>
          <a:p>
            <a:r>
              <a:rPr lang="en-US" dirty="0">
                <a:latin typeface="Times New Roman" panose="02020603050405020304" pitchFamily="18" charset="0"/>
                <a:cs typeface="Times New Roman" panose="02020603050405020304" pitchFamily="18" charset="0"/>
              </a:rPr>
              <a:t>The outliers show that some farms experience environmental conditions different from the usual seasonal range.</a:t>
            </a:r>
          </a:p>
          <a:p>
            <a:pPr marL="0" indent="0">
              <a:buNone/>
            </a:pPr>
            <a:endParaRPr lang="en-IN" dirty="0"/>
          </a:p>
        </p:txBody>
      </p:sp>
      <p:pic>
        <p:nvPicPr>
          <p:cNvPr id="2" name="Picture 1"/>
          <p:cNvPicPr>
            <a:picLocks noChangeAspect="1"/>
          </p:cNvPicPr>
          <p:nvPr/>
        </p:nvPicPr>
        <p:blipFill>
          <a:blip r:embed="rId3"/>
          <a:stretch>
            <a:fillRect/>
          </a:stretch>
        </p:blipFill>
        <p:spPr>
          <a:xfrm>
            <a:off x="3931920" y="759417"/>
            <a:ext cx="8128220" cy="5712503"/>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426683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308356" y="196625"/>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201477" y="1275372"/>
            <a:ext cx="4156261" cy="4985178"/>
          </a:xfrm>
        </p:spPr>
        <p:txBody>
          <a:bodyPr>
            <a:normAutofit fontScale="77500" lnSpcReduction="20000"/>
          </a:bodyPr>
          <a:lstStyle/>
          <a:p>
            <a:pPr marL="0" indent="0">
              <a:buNone/>
            </a:pPr>
            <a:r>
              <a:rPr lang="en-US" sz="2200" b="1" dirty="0">
                <a:latin typeface="Times New Roman" panose="02020603050405020304" pitchFamily="18" charset="0"/>
                <a:cs typeface="Times New Roman" panose="02020603050405020304" pitchFamily="18" charset="0"/>
              </a:rPr>
              <a:t>Key Findings</a:t>
            </a:r>
          </a:p>
          <a:p>
            <a:r>
              <a:rPr lang="en-US" sz="2200" dirty="0">
                <a:latin typeface="Times New Roman" panose="02020603050405020304" pitchFamily="18" charset="0"/>
                <a:cs typeface="Times New Roman" panose="02020603050405020304" pitchFamily="18" charset="0"/>
              </a:rPr>
              <a:t>Nitrogen usage remains almost the same across all seasons, at approximately 119–120 kg/ha.</a:t>
            </a:r>
          </a:p>
          <a:p>
            <a:r>
              <a:rPr lang="en-US" sz="2200" dirty="0">
                <a:latin typeface="Times New Roman" panose="02020603050405020304" pitchFamily="18" charset="0"/>
                <a:cs typeface="Times New Roman" panose="02020603050405020304" pitchFamily="18" charset="0"/>
              </a:rPr>
              <a:t>Zaid has the highest average phosphorus and potassium usage, although the seasonal differences are very small.</a:t>
            </a:r>
          </a:p>
          <a:p>
            <a:r>
              <a:rPr lang="en-US" sz="2200" dirty="0" err="1">
                <a:latin typeface="Times New Roman" panose="02020603050405020304" pitchFamily="18" charset="0"/>
                <a:cs typeface="Times New Roman" panose="02020603050405020304" pitchFamily="18" charset="0"/>
              </a:rPr>
              <a:t>Kharif</a:t>
            </a:r>
            <a:r>
              <a:rPr lang="en-US" sz="2200" dirty="0">
                <a:latin typeface="Times New Roman" panose="02020603050405020304" pitchFamily="18" charset="0"/>
                <a:cs typeface="Times New Roman" panose="02020603050405020304" pitchFamily="18" charset="0"/>
              </a:rPr>
              <a:t> records slightly higher average fertilizer usage than Rabi and Zaid.</a:t>
            </a:r>
          </a:p>
          <a:p>
            <a:r>
              <a:rPr lang="en-US" sz="2200" dirty="0">
                <a:latin typeface="Times New Roman" panose="02020603050405020304" pitchFamily="18" charset="0"/>
                <a:cs typeface="Times New Roman" panose="02020603050405020304" pitchFamily="18" charset="0"/>
              </a:rPr>
              <a:t>Zaid has the highest average pesticide usage, while Rabi has the lowest.</a:t>
            </a:r>
          </a:p>
          <a:p>
            <a:r>
              <a:rPr lang="en-US" sz="2200" dirty="0">
                <a:latin typeface="Times New Roman" panose="02020603050405020304" pitchFamily="18" charset="0"/>
                <a:cs typeface="Times New Roman" panose="02020603050405020304" pitchFamily="18" charset="0"/>
              </a:rPr>
              <a:t>Zaid uses the highest average amount of water, approximately 6,400 m³.</a:t>
            </a:r>
          </a:p>
          <a:p>
            <a:r>
              <a:rPr lang="en-US" sz="2200" dirty="0">
                <a:latin typeface="Times New Roman" panose="02020603050405020304" pitchFamily="18" charset="0"/>
                <a:cs typeface="Times New Roman" panose="02020603050405020304" pitchFamily="18" charset="0"/>
              </a:rPr>
              <a:t>Rabi has the lowest average water usage, approximately 5,850 m³.</a:t>
            </a:r>
          </a:p>
          <a:p>
            <a:r>
              <a:rPr lang="en-US" sz="2200" dirty="0">
                <a:latin typeface="Times New Roman" panose="02020603050405020304" pitchFamily="18" charset="0"/>
                <a:cs typeface="Times New Roman" panose="02020603050405020304" pitchFamily="18" charset="0"/>
              </a:rPr>
              <a:t>Overall, nutrient and fertilizer usage is relatively consistent across seasons, but water usage varies more </a:t>
            </a:r>
            <a:r>
              <a:rPr lang="en-US" sz="2200" dirty="0" err="1">
                <a:latin typeface="Times New Roman" panose="02020603050405020304" pitchFamily="18" charset="0"/>
                <a:cs typeface="Times New Roman" panose="02020603050405020304" pitchFamily="18" charset="0"/>
              </a:rPr>
              <a:t>noticeabl</a:t>
            </a:r>
            <a:endParaRPr lang="en-US" sz="22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2" name="Picture 1"/>
          <p:cNvPicPr>
            <a:picLocks noChangeAspect="1"/>
          </p:cNvPicPr>
          <p:nvPr/>
        </p:nvPicPr>
        <p:blipFill>
          <a:blip r:embed="rId3"/>
          <a:stretch>
            <a:fillRect/>
          </a:stretch>
        </p:blipFill>
        <p:spPr>
          <a:xfrm>
            <a:off x="4357738" y="1022123"/>
            <a:ext cx="7729301" cy="5238427"/>
          </a:xfrm>
          <a:prstGeom prst="rect">
            <a:avLst/>
          </a:prstGeom>
          <a:ln>
            <a:solidFill>
              <a:schemeClr val="accent1"/>
            </a:solidFill>
          </a:ln>
        </p:spPr>
      </p:pic>
    </p:spTree>
    <p:extLst>
      <p:ext uri="{BB962C8B-B14F-4D97-AF65-F5344CB8AC3E}">
        <p14:creationId xmlns:p14="http://schemas.microsoft.com/office/powerpoint/2010/main" val="148183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180291" y="342468"/>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180291" y="1372329"/>
            <a:ext cx="3477309" cy="4359728"/>
          </a:xfrm>
        </p:spPr>
        <p:txBody>
          <a:bodyPr>
            <a:normAutofit fontScale="85000" lnSpcReduction="20000"/>
          </a:bodyPr>
          <a:lstStyle/>
          <a:p>
            <a:pPr marL="0" indent="0">
              <a:buNone/>
            </a:pPr>
            <a:r>
              <a:rPr lang="en-US" sz="2300" b="1" dirty="0">
                <a:latin typeface="Times New Roman" panose="02020603050405020304" pitchFamily="18" charset="0"/>
                <a:cs typeface="Times New Roman" panose="02020603050405020304" pitchFamily="18" charset="0"/>
              </a:rPr>
              <a:t>Key Findings</a:t>
            </a:r>
          </a:p>
          <a:p>
            <a:r>
              <a:rPr lang="en-US" dirty="0">
                <a:latin typeface="Times New Roman" panose="02020603050405020304" pitchFamily="18" charset="0"/>
                <a:cs typeface="Times New Roman" panose="02020603050405020304" pitchFamily="18" charset="0"/>
              </a:rPr>
              <a:t>Yield and production have a strong positive correlation (0.88).</a:t>
            </a:r>
          </a:p>
          <a:p>
            <a:r>
              <a:rPr lang="en-US" dirty="0">
                <a:latin typeface="Times New Roman" panose="02020603050405020304" pitchFamily="18" charset="0"/>
                <a:cs typeface="Times New Roman" panose="02020603050405020304" pitchFamily="18" charset="0"/>
              </a:rPr>
              <a:t>Water efficiency has a very strong positive correlation with yield (0.91).</a:t>
            </a:r>
          </a:p>
          <a:p>
            <a:r>
              <a:rPr lang="en-US" dirty="0">
                <a:latin typeface="Times New Roman" panose="02020603050405020304" pitchFamily="18" charset="0"/>
                <a:cs typeface="Times New Roman" panose="02020603050405020304" pitchFamily="18" charset="0"/>
              </a:rPr>
              <a:t>Revenue and profit are strongly correlated (0.89).</a:t>
            </a:r>
          </a:p>
          <a:p>
            <a:r>
              <a:rPr lang="en-US" dirty="0">
                <a:latin typeface="Times New Roman" panose="02020603050405020304" pitchFamily="18" charset="0"/>
                <a:cs typeface="Times New Roman" panose="02020603050405020304" pitchFamily="18" charset="0"/>
              </a:rPr>
              <a:t>Rainfall and disease/pest risk show a positive correlation (0.62).</a:t>
            </a:r>
          </a:p>
          <a:p>
            <a:r>
              <a:rPr lang="en-US" dirty="0">
                <a:latin typeface="Times New Roman" panose="02020603050405020304" pitchFamily="18" charset="0"/>
                <a:cs typeface="Times New Roman" panose="02020603050405020304" pitchFamily="18" charset="0"/>
              </a:rPr>
              <a:t>Pesticide usage has a negative correlation with disease/pest risk (–0.47).</a:t>
            </a:r>
          </a:p>
          <a:p>
            <a:r>
              <a:rPr lang="en-US" dirty="0">
                <a:latin typeface="Times New Roman" panose="02020603050405020304" pitchFamily="18" charset="0"/>
                <a:cs typeface="Times New Roman" panose="02020603050405020304" pitchFamily="18" charset="0"/>
              </a:rPr>
              <a:t>Correlation shows association, not causation</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3657601" y="489857"/>
            <a:ext cx="8281392" cy="6175103"/>
          </a:xfrm>
          <a:prstGeom prst="rect">
            <a:avLst/>
          </a:prstGeom>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389089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392561" y="255035"/>
            <a:ext cx="3265039"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392561" y="1275371"/>
            <a:ext cx="4751246" cy="5007210"/>
          </a:xfrm>
        </p:spPr>
        <p:txBody>
          <a:bodyPr>
            <a:normAutofit fontScale="92500"/>
          </a:bodyPr>
          <a:lstStyle/>
          <a:p>
            <a:pPr marL="0" indent="0">
              <a:buNone/>
            </a:pPr>
            <a:r>
              <a:rPr lang="en-US" sz="2100" b="1" dirty="0" smtClean="0">
                <a:latin typeface="Times New Roman" panose="02020603050405020304" pitchFamily="18" charset="0"/>
                <a:cs typeface="Times New Roman" panose="02020603050405020304" pitchFamily="18" charset="0"/>
              </a:rPr>
              <a:t>Key </a:t>
            </a:r>
            <a:r>
              <a:rPr lang="en-US" sz="2100" b="1" dirty="0">
                <a:latin typeface="Times New Roman" panose="02020603050405020304" pitchFamily="18" charset="0"/>
                <a:cs typeface="Times New Roman" panose="02020603050405020304" pitchFamily="18" charset="0"/>
              </a:rPr>
              <a:t>Finding – Rainfall </a:t>
            </a:r>
            <a:r>
              <a:rPr lang="en-US" sz="2100" b="1" dirty="0" err="1">
                <a:latin typeface="Times New Roman" panose="02020603050405020304" pitchFamily="18" charset="0"/>
                <a:cs typeface="Times New Roman" panose="02020603050405020304" pitchFamily="18" charset="0"/>
              </a:rPr>
              <a:t>vs</a:t>
            </a:r>
            <a:r>
              <a:rPr lang="en-US" sz="2100" b="1" dirty="0">
                <a:latin typeface="Times New Roman" panose="02020603050405020304" pitchFamily="18" charset="0"/>
                <a:cs typeface="Times New Roman" panose="02020603050405020304" pitchFamily="18" charset="0"/>
              </a:rPr>
              <a:t> Yield</a:t>
            </a:r>
          </a:p>
          <a:p>
            <a:r>
              <a:rPr lang="en-US" sz="2100" dirty="0">
                <a:latin typeface="Times New Roman" panose="02020603050405020304" pitchFamily="18" charset="0"/>
                <a:cs typeface="Times New Roman" panose="02020603050405020304" pitchFamily="18" charset="0"/>
              </a:rPr>
              <a:t>Higher rainfall generally shows higher yield, especially for </a:t>
            </a:r>
            <a:r>
              <a:rPr lang="en-US" sz="2100" dirty="0" err="1">
                <a:latin typeface="Times New Roman" panose="02020603050405020304" pitchFamily="18" charset="0"/>
                <a:cs typeface="Times New Roman" panose="02020603050405020304" pitchFamily="18" charset="0"/>
              </a:rPr>
              <a:t>Kharif</a:t>
            </a:r>
            <a:r>
              <a:rPr lang="en-US" sz="2100" dirty="0">
                <a:latin typeface="Times New Roman" panose="02020603050405020304" pitchFamily="18" charset="0"/>
                <a:cs typeface="Times New Roman" panose="02020603050405020304" pitchFamily="18" charset="0"/>
              </a:rPr>
              <a:t> and Rabi seasons. </a:t>
            </a:r>
          </a:p>
          <a:p>
            <a:r>
              <a:rPr lang="en-US" sz="2100" dirty="0">
                <a:latin typeface="Times New Roman" panose="02020603050405020304" pitchFamily="18" charset="0"/>
                <a:cs typeface="Times New Roman" panose="02020603050405020304" pitchFamily="18" charset="0"/>
              </a:rPr>
              <a:t>The relationship is positive but not very strong, as the points are widely scattered. </a:t>
            </a:r>
          </a:p>
          <a:p>
            <a:r>
              <a:rPr lang="en-US" sz="2100" dirty="0" err="1">
                <a:latin typeface="Times New Roman" panose="02020603050405020304" pitchFamily="18" charset="0"/>
                <a:cs typeface="Times New Roman" panose="02020603050405020304" pitchFamily="18" charset="0"/>
              </a:rPr>
              <a:t>Kharif</a:t>
            </a:r>
            <a:r>
              <a:rPr lang="en-US" sz="2100" dirty="0">
                <a:latin typeface="Times New Roman" panose="02020603050405020304" pitchFamily="18" charset="0"/>
                <a:cs typeface="Times New Roman" panose="02020603050405020304" pitchFamily="18" charset="0"/>
              </a:rPr>
              <a:t> has more observations at higher rainfall and yield levels. </a:t>
            </a:r>
          </a:p>
          <a:p>
            <a:r>
              <a:rPr lang="en-US" sz="2100" dirty="0">
                <a:latin typeface="Times New Roman" panose="02020603050405020304" pitchFamily="18" charset="0"/>
                <a:cs typeface="Times New Roman" panose="02020603050405020304" pitchFamily="18" charset="0"/>
              </a:rPr>
              <a:t>Zaid generally has lower rainfall and lower yield compared with </a:t>
            </a:r>
            <a:r>
              <a:rPr lang="en-US" sz="2100" dirty="0" err="1">
                <a:latin typeface="Times New Roman" panose="02020603050405020304" pitchFamily="18" charset="0"/>
                <a:cs typeface="Times New Roman" panose="02020603050405020304" pitchFamily="18" charset="0"/>
              </a:rPr>
              <a:t>Kharif</a:t>
            </a:r>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There are many observations with very low yield despite different rainfall levels, suggesting rainfall is not the only factor affecting yield. </a:t>
            </a:r>
          </a:p>
          <a:p>
            <a:pPr marL="0" indent="0">
              <a:buNone/>
            </a:pPr>
            <a:endParaRPr lang="en-US" b="1" dirty="0" smtClean="0"/>
          </a:p>
          <a:p>
            <a:pPr marL="0" indent="0">
              <a:buNone/>
            </a:pPr>
            <a:endParaRPr lang="en-US" b="1" dirty="0" smtClean="0"/>
          </a:p>
          <a:p>
            <a:pPr marL="0" indent="0">
              <a:buNone/>
            </a:pPr>
            <a:endParaRPr lang="en-US" b="1" dirty="0"/>
          </a:p>
        </p:txBody>
      </p:sp>
      <p:pic>
        <p:nvPicPr>
          <p:cNvPr id="3" name="Picture 2"/>
          <p:cNvPicPr>
            <a:picLocks noChangeAspect="1"/>
          </p:cNvPicPr>
          <p:nvPr/>
        </p:nvPicPr>
        <p:blipFill>
          <a:blip r:embed="rId3"/>
          <a:stretch>
            <a:fillRect/>
          </a:stretch>
        </p:blipFill>
        <p:spPr>
          <a:xfrm>
            <a:off x="5638398" y="370590"/>
            <a:ext cx="6155811" cy="6190188"/>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61755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527809" y="1372328"/>
            <a:ext cx="4893277" cy="4914171"/>
          </a:xfrm>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Key </a:t>
            </a:r>
            <a:r>
              <a:rPr lang="en-US" b="1" dirty="0">
                <a:latin typeface="Times New Roman" panose="02020603050405020304" pitchFamily="18" charset="0"/>
                <a:cs typeface="Times New Roman" panose="02020603050405020304" pitchFamily="18" charset="0"/>
              </a:rPr>
              <a:t>Finding – Fertilizer </a:t>
            </a:r>
            <a:r>
              <a:rPr lang="en-US" b="1" dirty="0" err="1">
                <a:latin typeface="Times New Roman" panose="02020603050405020304" pitchFamily="18" charset="0"/>
                <a:cs typeface="Times New Roman" panose="02020603050405020304" pitchFamily="18" charset="0"/>
              </a:rPr>
              <a:t>vs</a:t>
            </a:r>
            <a:r>
              <a:rPr lang="en-US" b="1" dirty="0">
                <a:latin typeface="Times New Roman" panose="02020603050405020304" pitchFamily="18" charset="0"/>
                <a:cs typeface="Times New Roman" panose="02020603050405020304" pitchFamily="18" charset="0"/>
              </a:rPr>
              <a:t> Yield</a:t>
            </a:r>
          </a:p>
          <a:p>
            <a:r>
              <a:rPr lang="en-US" dirty="0">
                <a:latin typeface="Times New Roman" panose="02020603050405020304" pitchFamily="18" charset="0"/>
                <a:cs typeface="Times New Roman" panose="02020603050405020304" pitchFamily="18" charset="0"/>
              </a:rPr>
              <a:t>Fertilizer usage shows a weak positive relationship with yield, but the points are widely scattered. </a:t>
            </a:r>
          </a:p>
          <a:p>
            <a:r>
              <a:rPr lang="en-US" dirty="0">
                <a:latin typeface="Times New Roman" panose="02020603050405020304" pitchFamily="18" charset="0"/>
                <a:cs typeface="Times New Roman" panose="02020603050405020304" pitchFamily="18" charset="0"/>
              </a:rPr>
              <a:t>Most observations use around 100–250 kg/ha of fertilizer. </a:t>
            </a:r>
          </a:p>
          <a:p>
            <a:r>
              <a:rPr lang="en-US" dirty="0">
                <a:latin typeface="Times New Roman" panose="02020603050405020304" pitchFamily="18" charset="0"/>
                <a:cs typeface="Times New Roman" panose="02020603050405020304" pitchFamily="18" charset="0"/>
              </a:rPr>
              <a:t>Higher yields (around 50–80+ </a:t>
            </a:r>
            <a:r>
              <a:rPr lang="en-US" dirty="0" err="1">
                <a:latin typeface="Times New Roman" panose="02020603050405020304" pitchFamily="18" charset="0"/>
                <a:cs typeface="Times New Roman" panose="02020603050405020304" pitchFamily="18" charset="0"/>
              </a:rPr>
              <a:t>tonnes</a:t>
            </a:r>
            <a:r>
              <a:rPr lang="en-US" dirty="0">
                <a:latin typeface="Times New Roman" panose="02020603050405020304" pitchFamily="18" charset="0"/>
                <a:cs typeface="Times New Roman" panose="02020603050405020304" pitchFamily="18" charset="0"/>
              </a:rPr>
              <a:t>/ha) occur mainly in the 100–250 kg/ha range. </a:t>
            </a:r>
          </a:p>
          <a:p>
            <a:r>
              <a:rPr lang="en-US" dirty="0">
                <a:latin typeface="Times New Roman" panose="02020603050405020304" pitchFamily="18" charset="0"/>
                <a:cs typeface="Times New Roman" panose="02020603050405020304" pitchFamily="18" charset="0"/>
              </a:rPr>
              <a:t>There are many cases of low yield despite fertilizer use, indicating fertilizer alone does not determine yield. </a:t>
            </a:r>
          </a:p>
          <a:p>
            <a:r>
              <a:rPr lang="en-US" dirty="0" err="1">
                <a:latin typeface="Times New Roman" panose="02020603050405020304" pitchFamily="18" charset="0"/>
                <a:cs typeface="Times New Roman" panose="02020603050405020304" pitchFamily="18" charset="0"/>
              </a:rPr>
              <a:t>Kharif</a:t>
            </a:r>
            <a:r>
              <a:rPr lang="en-US" dirty="0">
                <a:latin typeface="Times New Roman" panose="02020603050405020304" pitchFamily="18" charset="0"/>
                <a:cs typeface="Times New Roman" panose="02020603050405020304" pitchFamily="18" charset="0"/>
              </a:rPr>
              <a:t> and Rabi show more high-yield observations compared with Zaid.</a:t>
            </a:r>
          </a:p>
          <a:p>
            <a:pPr marL="0" indent="0">
              <a:buNone/>
            </a:pPr>
            <a:endParaRPr lang="en-US" b="1" dirty="0"/>
          </a:p>
        </p:txBody>
      </p:sp>
      <p:pic>
        <p:nvPicPr>
          <p:cNvPr id="6" name="Picture 5"/>
          <p:cNvPicPr>
            <a:picLocks noChangeAspect="1"/>
          </p:cNvPicPr>
          <p:nvPr/>
        </p:nvPicPr>
        <p:blipFill>
          <a:blip r:embed="rId3"/>
          <a:stretch>
            <a:fillRect/>
          </a:stretch>
        </p:blipFill>
        <p:spPr>
          <a:xfrm>
            <a:off x="5861957" y="480447"/>
            <a:ext cx="6065207" cy="6171951"/>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4027335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527809" y="370589"/>
            <a:ext cx="3129791"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527809" y="1372329"/>
            <a:ext cx="5737770" cy="4522286"/>
          </a:xfrm>
        </p:spPr>
        <p:txBody>
          <a:bodyPr>
            <a:normAutofit fontScale="85000" lnSpcReduction="20000"/>
          </a:bodyPr>
          <a:lstStyle/>
          <a:p>
            <a:pPr marL="0" indent="0">
              <a:buNone/>
            </a:pPr>
            <a:r>
              <a:rPr lang="en-US" sz="2600" b="1" dirty="0" smtClean="0">
                <a:latin typeface="Times New Roman" panose="02020603050405020304" pitchFamily="18" charset="0"/>
                <a:cs typeface="Times New Roman" panose="02020603050405020304" pitchFamily="18" charset="0"/>
              </a:rPr>
              <a:t>Key </a:t>
            </a:r>
            <a:r>
              <a:rPr lang="en-US" sz="2600" b="1" dirty="0">
                <a:latin typeface="Times New Roman" panose="02020603050405020304" pitchFamily="18" charset="0"/>
                <a:cs typeface="Times New Roman" panose="02020603050405020304" pitchFamily="18" charset="0"/>
              </a:rPr>
              <a:t>Finding – Soil Moisture </a:t>
            </a:r>
            <a:r>
              <a:rPr lang="en-US" sz="2600" b="1" dirty="0" err="1">
                <a:latin typeface="Times New Roman" panose="02020603050405020304" pitchFamily="18" charset="0"/>
                <a:cs typeface="Times New Roman" panose="02020603050405020304" pitchFamily="18" charset="0"/>
              </a:rPr>
              <a:t>vs</a:t>
            </a:r>
            <a:r>
              <a:rPr lang="en-US" sz="2600" b="1" dirty="0">
                <a:latin typeface="Times New Roman" panose="02020603050405020304" pitchFamily="18" charset="0"/>
                <a:cs typeface="Times New Roman" panose="02020603050405020304" pitchFamily="18" charset="0"/>
              </a:rPr>
              <a:t> Yield</a:t>
            </a:r>
          </a:p>
          <a:p>
            <a:r>
              <a:rPr lang="en-US" sz="2600" dirty="0">
                <a:latin typeface="Times New Roman" panose="02020603050405020304" pitchFamily="18" charset="0"/>
                <a:cs typeface="Times New Roman" panose="02020603050405020304" pitchFamily="18" charset="0"/>
              </a:rPr>
              <a:t>Soil moisture shows a moderate positive relationship with yield—higher moisture levels generally have more high-yield observations. </a:t>
            </a:r>
          </a:p>
          <a:p>
            <a:r>
              <a:rPr lang="en-US" sz="2600" dirty="0">
                <a:latin typeface="Times New Roman" panose="02020603050405020304" pitchFamily="18" charset="0"/>
                <a:cs typeface="Times New Roman" panose="02020603050405020304" pitchFamily="18" charset="0"/>
              </a:rPr>
              <a:t>Most high yields occur around 20–35% soil moisture. </a:t>
            </a:r>
          </a:p>
          <a:p>
            <a:r>
              <a:rPr lang="en-US" sz="2600" dirty="0" err="1">
                <a:latin typeface="Times New Roman" panose="02020603050405020304" pitchFamily="18" charset="0"/>
                <a:cs typeface="Times New Roman" panose="02020603050405020304" pitchFamily="18" charset="0"/>
              </a:rPr>
              <a:t>Kharif</a:t>
            </a:r>
            <a:r>
              <a:rPr lang="en-US" sz="2600" dirty="0">
                <a:latin typeface="Times New Roman" panose="02020603050405020304" pitchFamily="18" charset="0"/>
                <a:cs typeface="Times New Roman" panose="02020603050405020304" pitchFamily="18" charset="0"/>
              </a:rPr>
              <a:t> shows the widest range of soil moisture and several of the highest yields. </a:t>
            </a:r>
          </a:p>
          <a:p>
            <a:r>
              <a:rPr lang="en-US" sz="2600" dirty="0">
                <a:latin typeface="Times New Roman" panose="02020603050405020304" pitchFamily="18" charset="0"/>
                <a:cs typeface="Times New Roman" panose="02020603050405020304" pitchFamily="18" charset="0"/>
              </a:rPr>
              <a:t>At very low moisture levels, yields are generally low. </a:t>
            </a:r>
          </a:p>
          <a:p>
            <a:r>
              <a:rPr lang="en-US" sz="2600" dirty="0">
                <a:latin typeface="Times New Roman" panose="02020603050405020304" pitchFamily="18" charset="0"/>
                <a:cs typeface="Times New Roman" panose="02020603050405020304" pitchFamily="18" charset="0"/>
              </a:rPr>
              <a:t>However, the relationship is not consistent, showing that soil moisture alone does not determine yield</a:t>
            </a:r>
          </a:p>
          <a:p>
            <a:pPr marL="0" indent="0">
              <a:buNone/>
            </a:pPr>
            <a:endParaRPr lang="en-US" b="1" dirty="0"/>
          </a:p>
        </p:txBody>
      </p:sp>
      <p:pic>
        <p:nvPicPr>
          <p:cNvPr id="2" name="Picture 1"/>
          <p:cNvPicPr>
            <a:picLocks noChangeAspect="1"/>
          </p:cNvPicPr>
          <p:nvPr/>
        </p:nvPicPr>
        <p:blipFill>
          <a:blip r:embed="rId3"/>
          <a:stretch>
            <a:fillRect/>
          </a:stretch>
        </p:blipFill>
        <p:spPr>
          <a:xfrm>
            <a:off x="6106887" y="479671"/>
            <a:ext cx="5812970" cy="6185289"/>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56458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527808" y="1372329"/>
            <a:ext cx="5203521" cy="4783542"/>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Key Finding – Yield </a:t>
            </a:r>
            <a:r>
              <a:rPr lang="en-US" sz="1800" b="1" dirty="0" err="1">
                <a:latin typeface="Times New Roman" panose="02020603050405020304" pitchFamily="18" charset="0"/>
                <a:cs typeface="Times New Roman" panose="02020603050405020304" pitchFamily="18" charset="0"/>
              </a:rPr>
              <a:t>vs</a:t>
            </a:r>
            <a:r>
              <a:rPr lang="en-US" sz="1800" b="1" dirty="0">
                <a:latin typeface="Times New Roman" panose="02020603050405020304" pitchFamily="18" charset="0"/>
                <a:cs typeface="Times New Roman" panose="02020603050405020304" pitchFamily="18" charset="0"/>
              </a:rPr>
              <a:t> Profit</a:t>
            </a:r>
          </a:p>
          <a:p>
            <a:r>
              <a:rPr lang="en-US" sz="1800" dirty="0">
                <a:latin typeface="Times New Roman" panose="02020603050405020304" pitchFamily="18" charset="0"/>
                <a:cs typeface="Times New Roman" panose="02020603050405020304" pitchFamily="18" charset="0"/>
              </a:rPr>
              <a:t>There is a strong positive relationship between yield and profit—as yield increases, profit generally increases. </a:t>
            </a:r>
          </a:p>
          <a:p>
            <a:r>
              <a:rPr lang="en-US" sz="1800" dirty="0">
                <a:latin typeface="Times New Roman" panose="02020603050405020304" pitchFamily="18" charset="0"/>
                <a:cs typeface="Times New Roman" panose="02020603050405020304" pitchFamily="18" charset="0"/>
              </a:rPr>
              <a:t>Very low yields show high variation in profit, including some losses. </a:t>
            </a:r>
          </a:p>
          <a:p>
            <a:r>
              <a:rPr lang="en-US" sz="1800" dirty="0">
                <a:latin typeface="Times New Roman" panose="02020603050405020304" pitchFamily="18" charset="0"/>
                <a:cs typeface="Times New Roman" panose="02020603050405020304" pitchFamily="18" charset="0"/>
              </a:rPr>
              <a:t>Higher yields, especially above 40 </a:t>
            </a:r>
            <a:r>
              <a:rPr lang="en-US" sz="1800" dirty="0" err="1">
                <a:latin typeface="Times New Roman" panose="02020603050405020304" pitchFamily="18" charset="0"/>
                <a:cs typeface="Times New Roman" panose="02020603050405020304" pitchFamily="18" charset="0"/>
              </a:rPr>
              <a:t>tonnes</a:t>
            </a:r>
            <a:r>
              <a:rPr lang="en-US" sz="1800" dirty="0">
                <a:latin typeface="Times New Roman" panose="02020603050405020304" pitchFamily="18" charset="0"/>
                <a:cs typeface="Times New Roman" panose="02020603050405020304" pitchFamily="18" charset="0"/>
              </a:rPr>
              <a:t>/ha, are generally associated with higher and more consistent profits. </a:t>
            </a:r>
          </a:p>
          <a:p>
            <a:r>
              <a:rPr lang="en-US" sz="1800" dirty="0" err="1">
                <a:latin typeface="Times New Roman" panose="02020603050405020304" pitchFamily="18" charset="0"/>
                <a:cs typeface="Times New Roman" panose="02020603050405020304" pitchFamily="18" charset="0"/>
              </a:rPr>
              <a:t>Kharif</a:t>
            </a:r>
            <a:r>
              <a:rPr lang="en-US" sz="1800" dirty="0">
                <a:latin typeface="Times New Roman" panose="02020603050405020304" pitchFamily="18" charset="0"/>
                <a:cs typeface="Times New Roman" panose="02020603050405020304" pitchFamily="18" charset="0"/>
              </a:rPr>
              <a:t> has many of the highest-yield and highest-profit observations. </a:t>
            </a:r>
          </a:p>
          <a:p>
            <a:r>
              <a:rPr lang="en-US" sz="1800" dirty="0">
                <a:latin typeface="Times New Roman" panose="02020603050405020304" pitchFamily="18" charset="0"/>
                <a:cs typeface="Times New Roman" panose="02020603050405020304" pitchFamily="18" charset="0"/>
              </a:rPr>
              <a:t>Overall, increasing yield appears to be strongly linked with greater profitability, making yield an important factor in farm performance.</a:t>
            </a:r>
          </a:p>
          <a:p>
            <a:pPr marL="0" indent="0">
              <a:buNone/>
            </a:pPr>
            <a:endParaRPr lang="en-US" sz="16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5849745" y="526943"/>
            <a:ext cx="6021126" cy="6088950"/>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415361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320982" y="347854"/>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320982" y="1468411"/>
            <a:ext cx="4283675" cy="5196549"/>
          </a:xfrm>
        </p:spPr>
        <p:txBody>
          <a:bodyPr>
            <a:normAutofit fontScale="70000" lnSpcReduction="20000"/>
          </a:bodyPr>
          <a:lstStyle/>
          <a:p>
            <a:pPr marL="0" indent="0">
              <a:buNone/>
            </a:pPr>
            <a:r>
              <a:rPr lang="en-US" sz="2600" b="1" dirty="0">
                <a:latin typeface="Times New Roman" panose="02020603050405020304" pitchFamily="18" charset="0"/>
                <a:cs typeface="Times New Roman" panose="02020603050405020304" pitchFamily="18" charset="0"/>
              </a:rPr>
              <a:t>Key Finding – Average Yield by Crop and Season</a:t>
            </a:r>
          </a:p>
          <a:p>
            <a:r>
              <a:rPr lang="en-US" sz="2600" dirty="0">
                <a:latin typeface="Times New Roman" panose="02020603050405020304" pitchFamily="18" charset="0"/>
                <a:cs typeface="Times New Roman" panose="02020603050405020304" pitchFamily="18" charset="0"/>
              </a:rPr>
              <a:t>Sugarcane has by far the highest average yield in all seasons, with 53.46 (</a:t>
            </a:r>
            <a:r>
              <a:rPr lang="en-US" sz="2600" dirty="0" err="1">
                <a:latin typeface="Times New Roman" panose="02020603050405020304" pitchFamily="18" charset="0"/>
                <a:cs typeface="Times New Roman" panose="02020603050405020304" pitchFamily="18" charset="0"/>
              </a:rPr>
              <a:t>Kharif</a:t>
            </a:r>
            <a:r>
              <a:rPr lang="en-US" sz="2600" dirty="0">
                <a:latin typeface="Times New Roman" panose="02020603050405020304" pitchFamily="18" charset="0"/>
                <a:cs typeface="Times New Roman" panose="02020603050405020304" pitchFamily="18" charset="0"/>
              </a:rPr>
              <a:t>), 43.29 (Rabi), and 38.42 (Zaid). </a:t>
            </a:r>
          </a:p>
          <a:p>
            <a:r>
              <a:rPr lang="en-US" sz="2600" dirty="0">
                <a:latin typeface="Times New Roman" panose="02020603050405020304" pitchFamily="18" charset="0"/>
                <a:cs typeface="Times New Roman" panose="02020603050405020304" pitchFamily="18" charset="0"/>
              </a:rPr>
              <a:t>Maize and Rice have the next highest average yields, while Pulses and Cotton have relatively lower yields. </a:t>
            </a:r>
          </a:p>
          <a:p>
            <a:r>
              <a:rPr lang="en-US" sz="2600" dirty="0" err="1">
                <a:latin typeface="Times New Roman" panose="02020603050405020304" pitchFamily="18" charset="0"/>
                <a:cs typeface="Times New Roman" panose="02020603050405020304" pitchFamily="18" charset="0"/>
              </a:rPr>
              <a:t>Kharif</a:t>
            </a:r>
            <a:r>
              <a:rPr lang="en-US" sz="2600" dirty="0">
                <a:latin typeface="Times New Roman" panose="02020603050405020304" pitchFamily="18" charset="0"/>
                <a:cs typeface="Times New Roman" panose="02020603050405020304" pitchFamily="18" charset="0"/>
              </a:rPr>
              <a:t> has the highest average yield for every crop shown. </a:t>
            </a:r>
          </a:p>
          <a:p>
            <a:r>
              <a:rPr lang="en-US" sz="2600" dirty="0">
                <a:latin typeface="Times New Roman" panose="02020603050405020304" pitchFamily="18" charset="0"/>
                <a:cs typeface="Times New Roman" panose="02020603050405020304" pitchFamily="18" charset="0"/>
              </a:rPr>
              <a:t>Average yield generally decreases from </a:t>
            </a:r>
            <a:r>
              <a:rPr lang="en-US" sz="2600" dirty="0" err="1">
                <a:latin typeface="Times New Roman" panose="02020603050405020304" pitchFamily="18" charset="0"/>
                <a:cs typeface="Times New Roman" panose="02020603050405020304" pitchFamily="18" charset="0"/>
              </a:rPr>
              <a:t>Kharif</a:t>
            </a:r>
            <a:r>
              <a:rPr lang="en-US" sz="2600" dirty="0">
                <a:latin typeface="Times New Roman" panose="02020603050405020304" pitchFamily="18" charset="0"/>
                <a:cs typeface="Times New Roman" panose="02020603050405020304" pitchFamily="18" charset="0"/>
              </a:rPr>
              <a:t> → Rabi → Zaid across all crops. </a:t>
            </a:r>
          </a:p>
          <a:p>
            <a:r>
              <a:rPr lang="en-US" sz="2600" dirty="0" err="1">
                <a:latin typeface="Times New Roman" panose="02020603050405020304" pitchFamily="18" charset="0"/>
                <a:cs typeface="Times New Roman" panose="02020603050405020304" pitchFamily="18" charset="0"/>
              </a:rPr>
              <a:t>Chilli</a:t>
            </a:r>
            <a:r>
              <a:rPr lang="en-US" sz="2600" dirty="0">
                <a:latin typeface="Times New Roman" panose="02020603050405020304" pitchFamily="18" charset="0"/>
                <a:cs typeface="Times New Roman" panose="02020603050405020304" pitchFamily="18" charset="0"/>
              </a:rPr>
              <a:t> has the highest average yield among the non-sugarcane crops, while Pulses has the lowest. </a:t>
            </a:r>
          </a:p>
          <a:p>
            <a:r>
              <a:rPr lang="en-US" sz="2600" dirty="0">
                <a:latin typeface="Times New Roman" panose="02020603050405020304" pitchFamily="18" charset="0"/>
                <a:cs typeface="Times New Roman" panose="02020603050405020304" pitchFamily="18" charset="0"/>
              </a:rPr>
              <a:t>Overall, crop type and season both have a clear influence on average yield, with Sugarcane and the </a:t>
            </a:r>
            <a:r>
              <a:rPr lang="en-US" sz="2600" dirty="0" err="1">
                <a:latin typeface="Times New Roman" panose="02020603050405020304" pitchFamily="18" charset="0"/>
                <a:cs typeface="Times New Roman" panose="02020603050405020304" pitchFamily="18" charset="0"/>
              </a:rPr>
              <a:t>Kharif</a:t>
            </a:r>
            <a:r>
              <a:rPr lang="en-US" sz="2600" dirty="0">
                <a:latin typeface="Times New Roman" panose="02020603050405020304" pitchFamily="18" charset="0"/>
                <a:cs typeface="Times New Roman" panose="02020603050405020304" pitchFamily="18" charset="0"/>
              </a:rPr>
              <a:t> season performing best. </a:t>
            </a: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4807747" y="1275371"/>
            <a:ext cx="7125317" cy="5196549"/>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2639416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320980" y="22170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5160936" y="1201586"/>
            <a:ext cx="6864825" cy="5270334"/>
          </a:xfrm>
          <a:prstGeom prst="rect">
            <a:avLst/>
          </a:prstGeom>
        </p:spPr>
        <p:style>
          <a:lnRef idx="2">
            <a:schemeClr val="accent4"/>
          </a:lnRef>
          <a:fillRef idx="1">
            <a:schemeClr val="lt1"/>
          </a:fillRef>
          <a:effectRef idx="0">
            <a:schemeClr val="accent4"/>
          </a:effectRef>
          <a:fontRef idx="minor">
            <a:schemeClr val="dk1"/>
          </a:fontRef>
        </p:style>
      </p:pic>
      <p:sp>
        <p:nvSpPr>
          <p:cNvPr id="3" name="Rectangle 1"/>
          <p:cNvSpPr>
            <a:spLocks noGrp="1" noChangeArrowheads="1"/>
          </p:cNvSpPr>
          <p:nvPr>
            <p:ph type="body" sz="quarter" idx="12"/>
          </p:nvPr>
        </p:nvSpPr>
        <p:spPr bwMode="auto">
          <a:xfrm>
            <a:off x="320981" y="1052706"/>
            <a:ext cx="4971425"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r>
              <a:rPr lang="en-US" sz="2400" b="1" dirty="0">
                <a:solidFill>
                  <a:schemeClr val="tx1"/>
                </a:solidFill>
                <a:latin typeface="Times New Roman" panose="02020603050405020304" pitchFamily="18" charset="0"/>
                <a:cs typeface="Times New Roman" panose="02020603050405020304" pitchFamily="18" charset="0"/>
              </a:rPr>
              <a:t>Key Finding – Average Yield by State and </a:t>
            </a:r>
            <a:r>
              <a:rPr lang="en-US" sz="2400" b="1" dirty="0" smtClean="0">
                <a:solidFill>
                  <a:schemeClr val="tx1"/>
                </a:solidFill>
                <a:latin typeface="Times New Roman" panose="02020603050405020304" pitchFamily="18" charset="0"/>
                <a:cs typeface="Times New Roman" panose="02020603050405020304" pitchFamily="18" charset="0"/>
              </a:rPr>
              <a:t>Season</a:t>
            </a:r>
          </a:p>
          <a:p>
            <a:pPr marL="0" lvl="0" indent="0" defTabSz="914400" eaLnBrk="0" fontAlgn="base" hangingPunct="0">
              <a:spcBef>
                <a:spcPct val="0"/>
              </a:spcBef>
              <a:spcAft>
                <a:spcPct val="0"/>
              </a:spcAft>
              <a:buClrTx/>
              <a:buSzTx/>
              <a:buFontTx/>
              <a:buChar char="•"/>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Karnataka has the highest </a:t>
            </a:r>
            <a:r>
              <a:rPr kumimoji="0" 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Kharif</a:t>
            </a: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yield (6.46), while Punjab has the highest Rabi yield (8.61).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Karnataka also has the highest Zaid yield (6.62).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Maharashtra shows a sharp decline in Zaid yield, with the lowest value (2.28).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Kharif</a:t>
            </a: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generally performs well across most states, while Rabi varies significantly by state.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Punjab stands out as the strongest state in Rabi, whereas Karnataka performs particularly well in </a:t>
            </a:r>
            <a:r>
              <a:rPr kumimoji="0" 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Kharif</a:t>
            </a: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Zaid.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Overall, yield varies considerably by both state and season, indicating that regional and seasonal conditions strongly influence agricultural productivity. </a:t>
            </a:r>
          </a:p>
        </p:txBody>
      </p:sp>
    </p:spTree>
    <p:extLst>
      <p:ext uri="{BB962C8B-B14F-4D97-AF65-F5344CB8AC3E}">
        <p14:creationId xmlns:p14="http://schemas.microsoft.com/office/powerpoint/2010/main" val="38433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256697" y="153612"/>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1435926" y="1201586"/>
            <a:ext cx="3972982" cy="5196548"/>
          </a:xfrm>
          <a:prstGeom prst="rect">
            <a:avLst/>
          </a:prstGeom>
        </p:spPr>
        <p:style>
          <a:lnRef idx="2">
            <a:schemeClr val="dk1"/>
          </a:lnRef>
          <a:fillRef idx="1">
            <a:schemeClr val="lt1"/>
          </a:fillRef>
          <a:effectRef idx="0">
            <a:schemeClr val="dk1"/>
          </a:effectRef>
          <a:fontRef idx="minor">
            <a:schemeClr val="dk1"/>
          </a:fontRef>
        </p:style>
      </p:pic>
      <p:pic>
        <p:nvPicPr>
          <p:cNvPr id="3" name="Picture 2"/>
          <p:cNvPicPr>
            <a:picLocks noChangeAspect="1"/>
          </p:cNvPicPr>
          <p:nvPr/>
        </p:nvPicPr>
        <p:blipFill>
          <a:blip r:embed="rId4"/>
          <a:stretch>
            <a:fillRect/>
          </a:stretch>
        </p:blipFill>
        <p:spPr>
          <a:xfrm>
            <a:off x="5704914" y="1201585"/>
            <a:ext cx="3968682" cy="5196549"/>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8446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675957" y="1458579"/>
            <a:ext cx="8572500" cy="4016484"/>
          </a:xfrm>
          <a:prstGeom prst="rect">
            <a:avLst/>
          </a:prstGeom>
          <a:noFill/>
        </p:spPr>
        <p:txBody>
          <a:bodyPr wrap="square" rtlCol="0">
            <a:spAutoFit/>
          </a:bodyPr>
          <a:lstStyle/>
          <a:p>
            <a:pPr>
              <a:spcAft>
                <a:spcPts val="900"/>
              </a:spcAft>
              <a:defRPr sz="2000">
                <a:solidFill>
                  <a:srgbClr val="232323"/>
                </a:solidFill>
              </a:defRPr>
            </a:pPr>
            <a:r>
              <a:rPr lang="en-US" sz="2400" dirty="0">
                <a:latin typeface="Times New Roman" panose="02020603050405020304" pitchFamily="18" charset="0"/>
                <a:cs typeface="Times New Roman" panose="02020603050405020304" pitchFamily="18" charset="0"/>
              </a:rPr>
              <a:t>• Integrate real-time weather and soil-monitoring data.</a:t>
            </a:r>
          </a:p>
          <a:p>
            <a:pPr>
              <a:spcAft>
                <a:spcPts val="900"/>
              </a:spcAft>
              <a:defRPr sz="2000">
                <a:solidFill>
                  <a:srgbClr val="232323"/>
                </a:solidFill>
              </a:defRPr>
            </a:pPr>
            <a:r>
              <a:rPr lang="en-US" sz="2400" dirty="0">
                <a:latin typeface="Times New Roman" panose="02020603050405020304" pitchFamily="18" charset="0"/>
                <a:cs typeface="Times New Roman" panose="02020603050405020304" pitchFamily="18" charset="0"/>
              </a:rPr>
              <a:t>• Develop predictive models for crop yield and profitability.</a:t>
            </a:r>
          </a:p>
          <a:p>
            <a:pPr>
              <a:spcAft>
                <a:spcPts val="900"/>
              </a:spcAft>
              <a:defRPr sz="2000">
                <a:solidFill>
                  <a:srgbClr val="232323"/>
                </a:solidFill>
              </a:defRPr>
            </a:pPr>
            <a:r>
              <a:rPr lang="en-US" sz="2400" dirty="0">
                <a:latin typeface="Times New Roman" panose="02020603050405020304" pitchFamily="18" charset="0"/>
                <a:cs typeface="Times New Roman" panose="02020603050405020304" pitchFamily="18" charset="0"/>
              </a:rPr>
              <a:t>• Expand the dataset to include more years, regions, and crop varieties.</a:t>
            </a:r>
          </a:p>
          <a:p>
            <a:pPr>
              <a:spcAft>
                <a:spcPts val="900"/>
              </a:spcAft>
              <a:defRPr sz="2000">
                <a:solidFill>
                  <a:srgbClr val="232323"/>
                </a:solidFill>
              </a:defRPr>
            </a:pPr>
            <a:r>
              <a:rPr lang="en-US" sz="2400" dirty="0">
                <a:latin typeface="Times New Roman" panose="02020603050405020304" pitchFamily="18" charset="0"/>
                <a:cs typeface="Times New Roman" panose="02020603050405020304" pitchFamily="18" charset="0"/>
              </a:rPr>
              <a:t>• Build an interactive dashboard for farmers and planners.</a:t>
            </a:r>
          </a:p>
          <a:p>
            <a:pPr>
              <a:spcAft>
                <a:spcPts val="900"/>
              </a:spcAft>
              <a:defRPr sz="2000">
                <a:solidFill>
                  <a:srgbClr val="232323"/>
                </a:solidFill>
              </a:defRPr>
            </a:pPr>
            <a:r>
              <a:rPr lang="en-US" sz="2400" dirty="0">
                <a:latin typeface="Times New Roman" panose="02020603050405020304" pitchFamily="18" charset="0"/>
                <a:cs typeface="Times New Roman" panose="02020603050405020304" pitchFamily="18" charset="0"/>
              </a:rPr>
              <a:t>• Use advanced statistical or machine-learning methods to study seasonal effects.</a:t>
            </a:r>
          </a:p>
          <a:p>
            <a:pPr>
              <a:spcAft>
                <a:spcPts val="900"/>
              </a:spcAft>
              <a:defRPr sz="2000">
                <a:solidFill>
                  <a:srgbClr val="232323"/>
                </a:solidFill>
              </a:defRPr>
            </a:pPr>
            <a:r>
              <a:rPr lang="en-US" sz="2400" dirty="0">
                <a:latin typeface="Times New Roman" panose="02020603050405020304" pitchFamily="18" charset="0"/>
                <a:cs typeface="Times New Roman" panose="02020603050405020304" pitchFamily="18" charset="0"/>
              </a:rPr>
              <a:t>• Validate recommendations using field-level agricultural data.</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832423" y="3097489"/>
            <a:ext cx="9158663" cy="369332"/>
          </a:xfrm>
          <a:prstGeom prst="rect">
            <a:avLst/>
          </a:prstGeom>
          <a:noFill/>
        </p:spPr>
        <p:txBody>
          <a:bodyPr wrap="square">
            <a:spAutoFit/>
          </a:bodyPr>
          <a:lstStyle/>
          <a:p>
            <a:r>
              <a:rPr lang="en-US" dirty="0"/>
              <a:t>https://github.com/sakshiraut425-ui/Seasonal_Agriculture_Performance-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185981" y="200107"/>
            <a:ext cx="12006019"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a:t>
            </a:r>
            <a:r>
              <a:rPr lang="en-IN" sz="3200" dirty="0" smtClean="0">
                <a:latin typeface="Times New Roman" panose="02020603050405020304" pitchFamily="18" charset="0"/>
                <a:cs typeface="Times New Roman" panose="02020603050405020304" pitchFamily="18" charset="0"/>
              </a:rPr>
              <a:t>– </a:t>
            </a:r>
            <a:br>
              <a:rPr lang="en-IN" sz="3200" dirty="0" smtClean="0">
                <a:latin typeface="Times New Roman" panose="02020603050405020304" pitchFamily="18" charset="0"/>
                <a:cs typeface="Times New Roman" panose="02020603050405020304" pitchFamily="18" charset="0"/>
              </a:rPr>
            </a:br>
            <a:r>
              <a:rPr lang="en-IN" sz="3200" dirty="0" smtClean="0">
                <a:latin typeface="Times New Roman" panose="02020603050405020304" pitchFamily="18" charset="0"/>
                <a:cs typeface="Times New Roman" panose="02020603050405020304" pitchFamily="18" charset="0"/>
              </a:rPr>
              <a:t>Course </a:t>
            </a:r>
            <a:r>
              <a:rPr lang="en-IN" sz="3200" dirty="0">
                <a:latin typeface="Times New Roman" panose="02020603050405020304" pitchFamily="18" charset="0"/>
                <a:cs typeface="Times New Roman" panose="02020603050405020304" pitchFamily="18" charset="0"/>
              </a:rPr>
              <a:t>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2180471" y="1275371"/>
            <a:ext cx="7674005" cy="54411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86692" y="2971892"/>
            <a:ext cx="11340000" cy="700114"/>
          </a:xfrm>
          <a:prstGeom prst="rect">
            <a:avLst/>
          </a:prstGeom>
        </p:spPr>
        <p:txBody>
          <a:bodyPr anchor="ctr">
            <a:noAutofit/>
          </a:bodyPr>
          <a:lstStyle/>
          <a:p>
            <a:pPr algn="ctr"/>
            <a:r>
              <a:rPr lang="en-US" sz="6600" b="1" dirty="0">
                <a:solidFill>
                  <a:schemeClr val="tx1"/>
                </a:solidFill>
                <a:latin typeface="Times New Roman" panose="02020603050405020304" pitchFamily="18" charset="0"/>
                <a:cs typeface="Times New Roman" panose="02020603050405020304" pitchFamily="18" charset="0"/>
              </a:rPr>
              <a:t>Thank you</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www.w3.org/XML/1998/namespace"/>
    <ds:schemaRef ds:uri="http://purl.org/dc/dcmitype/"/>
    <ds:schemaRef ds:uri="http://schemas.openxmlformats.org/package/2006/metadata/core-properties"/>
    <ds:schemaRef ds:uri="http://purl.org/dc/elements/1.1/"/>
    <ds:schemaRef ds:uri="http://schemas.microsoft.com/office/2006/documentManagement/types"/>
    <ds:schemaRef ds:uri="16c05727-aa75-4e4a-9b5f-8a80a1165891"/>
    <ds:schemaRef ds:uri="http://schemas.microsoft.com/office/infopath/2007/PartnerControls"/>
    <ds:schemaRef ds:uri="http://schemas.microsoft.com/office/2006/metadata/properties"/>
    <ds:schemaRef ds:uri="71af3243-3dd4-4a8d-8c0d-dd76da1f02a5"/>
    <ds:schemaRef ds:uri="http://purl.org/dc/te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1489</TotalTime>
  <Words>1460</Words>
  <Application>Microsoft Office PowerPoint</Application>
  <PresentationFormat>Widescreen</PresentationFormat>
  <Paragraphs>155</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Times New Roman</vt:lpstr>
      <vt:lpstr>Trebuchet MS</vt:lpstr>
      <vt:lpstr>Wingdings</vt:lpstr>
      <vt:lpstr>Wingdings 3</vt:lpstr>
      <vt:lpstr>Facet</vt:lpstr>
      <vt:lpstr>Project Title - Seasonal Agriculture Performance </vt:lpstr>
      <vt:lpstr>PROBLEM  STATEMENT</vt:lpstr>
      <vt:lpstr>This project analyzes a structured agricultural dataset containing 4,000 records and 28 variables covering seasons, crops, locations, environmental conditions, farming inputs, irrigation methods, production, and economic performance.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117</cp:revision>
  <dcterms:created xsi:type="dcterms:W3CDTF">2021-07-11T13:13:15Z</dcterms:created>
  <dcterms:modified xsi:type="dcterms:W3CDTF">2026-09-16T08:19:33Z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